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0" r:id="rId23"/>
    <p:sldId id="281" r:id="rId24"/>
    <p:sldId id="277" r:id="rId25"/>
    <p:sldId id="278" r:id="rId26"/>
    <p:sldId id="279"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8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514F10-18D7-45FA-A552-70086BF1547E}" type="datetimeFigureOut">
              <a:rPr lang="en-US" smtClean="0"/>
              <a:t>12/24/2025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23F8EC-B9AB-47A4-B0E5-49A4FCCC6EBD}" type="slidenum">
              <a:rPr lang="en-US" smtClean="0"/>
              <a:t>‹#›</a:t>
            </a:fld>
            <a:endParaRPr lang="en-US"/>
          </a:p>
        </p:txBody>
      </p:sp>
    </p:spTree>
    <p:extLst>
      <p:ext uri="{BB962C8B-B14F-4D97-AF65-F5344CB8AC3E}">
        <p14:creationId xmlns:p14="http://schemas.microsoft.com/office/powerpoint/2010/main" val="317594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23F8EC-B9AB-47A4-B0E5-49A4FCCC6EBD}" type="slidenum">
              <a:rPr lang="en-US" smtClean="0"/>
              <a:t>5</a:t>
            </a:fld>
            <a:endParaRPr lang="en-US"/>
          </a:p>
        </p:txBody>
      </p:sp>
    </p:spTree>
    <p:extLst>
      <p:ext uri="{BB962C8B-B14F-4D97-AF65-F5344CB8AC3E}">
        <p14:creationId xmlns:p14="http://schemas.microsoft.com/office/powerpoint/2010/main" val="5118795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BED1FB-C8A5-43FF-A40C-07E52731ED67}"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F9D2BD-FCEA-4E3C-8138-B7337738D71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5735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BED1FB-C8A5-43FF-A40C-07E52731ED67}"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F9D2BD-FCEA-4E3C-8138-B7337738D71D}" type="slidenum">
              <a:rPr lang="en-US" smtClean="0"/>
              <a:t>‹#›</a:t>
            </a:fld>
            <a:endParaRPr lang="en-US"/>
          </a:p>
        </p:txBody>
      </p:sp>
    </p:spTree>
    <p:extLst>
      <p:ext uri="{BB962C8B-B14F-4D97-AF65-F5344CB8AC3E}">
        <p14:creationId xmlns:p14="http://schemas.microsoft.com/office/powerpoint/2010/main" val="1544945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BED1FB-C8A5-43FF-A40C-07E52731ED67}"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F9D2BD-FCEA-4E3C-8138-B7337738D71D}"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458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BED1FB-C8A5-43FF-A40C-07E52731ED67}" type="datetimeFigureOut">
              <a:rPr lang="en-US" smtClean="0"/>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F9D2BD-FCEA-4E3C-8138-B7337738D71D}" type="slidenum">
              <a:rPr lang="en-US" smtClean="0"/>
              <a:t>‹#›</a:t>
            </a:fld>
            <a:endParaRPr lang="en-US"/>
          </a:p>
        </p:txBody>
      </p:sp>
    </p:spTree>
    <p:extLst>
      <p:ext uri="{BB962C8B-B14F-4D97-AF65-F5344CB8AC3E}">
        <p14:creationId xmlns:p14="http://schemas.microsoft.com/office/powerpoint/2010/main" val="378752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BED1FB-C8A5-43FF-A40C-07E52731ED67}" type="datetimeFigureOut">
              <a:rPr lang="en-US" smtClean="0"/>
              <a:t>12/24/2025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2F9D2BD-FCEA-4E3C-8138-B7337738D71D}" type="slidenum">
              <a:rPr lang="en-US" smtClean="0"/>
              <a:t>‹#›</a:t>
            </a:fld>
            <a:endParaRPr lang="en-US"/>
          </a:p>
        </p:txBody>
      </p:sp>
    </p:spTree>
    <p:extLst>
      <p:ext uri="{BB962C8B-B14F-4D97-AF65-F5344CB8AC3E}">
        <p14:creationId xmlns:p14="http://schemas.microsoft.com/office/powerpoint/2010/main" val="1452795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BED1FB-C8A5-43FF-A40C-07E52731ED67}" type="datetimeFigureOut">
              <a:rPr lang="en-US" smtClean="0"/>
              <a:t>12/24/2025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F9D2BD-FCEA-4E3C-8138-B7337738D71D}" type="slidenum">
              <a:rPr lang="en-US" smtClean="0"/>
              <a:t>‹#›</a:t>
            </a:fld>
            <a:endParaRPr lang="en-US"/>
          </a:p>
        </p:txBody>
      </p:sp>
    </p:spTree>
    <p:extLst>
      <p:ext uri="{BB962C8B-B14F-4D97-AF65-F5344CB8AC3E}">
        <p14:creationId xmlns:p14="http://schemas.microsoft.com/office/powerpoint/2010/main" val="4245819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0BED1FB-C8A5-43FF-A40C-07E52731ED67}" type="datetimeFigureOut">
              <a:rPr lang="en-US" smtClean="0"/>
              <a:t>12/24/2025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2F9D2BD-FCEA-4E3C-8138-B7337738D71D}" type="slidenum">
              <a:rPr lang="en-US" smtClean="0"/>
              <a:t>‹#›</a:t>
            </a:fld>
            <a:endParaRPr lang="en-US"/>
          </a:p>
        </p:txBody>
      </p:sp>
    </p:spTree>
    <p:extLst>
      <p:ext uri="{BB962C8B-B14F-4D97-AF65-F5344CB8AC3E}">
        <p14:creationId xmlns:p14="http://schemas.microsoft.com/office/powerpoint/2010/main" val="2505018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0BED1FB-C8A5-43FF-A40C-07E52731ED67}" type="datetimeFigureOut">
              <a:rPr lang="en-US" smtClean="0"/>
              <a:t>12/24/2025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2F9D2BD-FCEA-4E3C-8138-B7337738D71D}" type="slidenum">
              <a:rPr lang="en-US" smtClean="0"/>
              <a:t>‹#›</a:t>
            </a:fld>
            <a:endParaRPr lang="en-US"/>
          </a:p>
        </p:txBody>
      </p:sp>
    </p:spTree>
    <p:extLst>
      <p:ext uri="{BB962C8B-B14F-4D97-AF65-F5344CB8AC3E}">
        <p14:creationId xmlns:p14="http://schemas.microsoft.com/office/powerpoint/2010/main" val="3686767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BED1FB-C8A5-43FF-A40C-07E52731ED67}" type="datetimeFigureOut">
              <a:rPr lang="en-US" smtClean="0"/>
              <a:t>12/24/2025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2F9D2BD-FCEA-4E3C-8138-B7337738D71D}" type="slidenum">
              <a:rPr lang="en-US" smtClean="0"/>
              <a:t>‹#›</a:t>
            </a:fld>
            <a:endParaRPr lang="en-US"/>
          </a:p>
        </p:txBody>
      </p:sp>
    </p:spTree>
    <p:extLst>
      <p:ext uri="{BB962C8B-B14F-4D97-AF65-F5344CB8AC3E}">
        <p14:creationId xmlns:p14="http://schemas.microsoft.com/office/powerpoint/2010/main" val="3687467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BED1FB-C8A5-43FF-A40C-07E52731ED67}"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F9D2BD-FCEA-4E3C-8138-B7337738D71D}" type="slidenum">
              <a:rPr lang="en-US" smtClean="0"/>
              <a:t>‹#›</a:t>
            </a:fld>
            <a:endParaRPr lang="en-US"/>
          </a:p>
        </p:txBody>
      </p:sp>
    </p:spTree>
    <p:extLst>
      <p:ext uri="{BB962C8B-B14F-4D97-AF65-F5344CB8AC3E}">
        <p14:creationId xmlns:p14="http://schemas.microsoft.com/office/powerpoint/2010/main" val="30377916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BED1FB-C8A5-43FF-A40C-07E52731ED67}"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F9D2BD-FCEA-4E3C-8138-B7337738D71D}" type="slidenum">
              <a:rPr lang="en-US" smtClean="0"/>
              <a:t>‹#›</a:t>
            </a:fld>
            <a:endParaRPr lang="en-US"/>
          </a:p>
        </p:txBody>
      </p:sp>
    </p:spTree>
    <p:extLst>
      <p:ext uri="{BB962C8B-B14F-4D97-AF65-F5344CB8AC3E}">
        <p14:creationId xmlns:p14="http://schemas.microsoft.com/office/powerpoint/2010/main" val="1717125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0BED1FB-C8A5-43FF-A40C-07E52731ED67}" type="datetimeFigureOut">
              <a:rPr lang="en-US" smtClean="0"/>
              <a:t>12/24/2025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2F9D2BD-FCEA-4E3C-8138-B7337738D71D}"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381766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A31BF-CB1D-47A6-9F9D-E694BEEF0AA3}"/>
              </a:ext>
            </a:extLst>
          </p:cNvPr>
          <p:cNvSpPr>
            <a:spLocks noGrp="1"/>
          </p:cNvSpPr>
          <p:nvPr>
            <p:ph type="ctrTitle"/>
          </p:nvPr>
        </p:nvSpPr>
        <p:spPr/>
        <p:txBody>
          <a:bodyPr>
            <a:normAutofit fontScale="90000"/>
          </a:bodyPr>
          <a:lstStyle/>
          <a:p>
            <a:r>
              <a:rPr lang="en-GB" dirty="0">
                <a:latin typeface="Times New Roman" panose="02020603050405020304" pitchFamily="18" charset="0"/>
                <a:cs typeface="Times New Roman" panose="02020603050405020304" pitchFamily="18" charset="0"/>
              </a:rPr>
              <a:t>Analysing the Impact of Gaming Hours on Academic and Work Performance</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E2956B2-12DF-4504-8708-09981D50E990}"/>
              </a:ext>
            </a:extLst>
          </p:cNvPr>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By Raphael </a:t>
            </a:r>
            <a:r>
              <a:rPr lang="en-US" dirty="0" err="1">
                <a:latin typeface="Times New Roman" panose="02020603050405020304" pitchFamily="18" charset="0"/>
                <a:cs typeface="Times New Roman" panose="02020603050405020304" pitchFamily="18" charset="0"/>
              </a:rPr>
              <a:t>Floku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Ayertey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952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00D48-424A-4659-87FA-8595A3E4F0FD}"/>
              </a:ext>
            </a:extLst>
          </p:cNvPr>
          <p:cNvSpPr>
            <a:spLocks noGrp="1"/>
          </p:cNvSpPr>
          <p:nvPr>
            <p:ph type="title"/>
          </p:nvPr>
        </p:nvSpPr>
        <p:spPr>
          <a:xfrm>
            <a:off x="922283" y="756745"/>
            <a:ext cx="10515600" cy="1198179"/>
          </a:xfrm>
        </p:spPr>
        <p:txBody>
          <a:bodyPr>
            <a:normAutofit/>
          </a:bodyPr>
          <a:lstStyle/>
          <a:p>
            <a:r>
              <a:rPr lang="en-US" sz="4400" b="1" dirty="0">
                <a:effectLst/>
                <a:latin typeface="Times New Roman" panose="02020603050405020304" pitchFamily="18" charset="0"/>
                <a:ea typeface="Times New Roman" panose="02020603050405020304" pitchFamily="18" charset="0"/>
                <a:cs typeface="Times New Roman" panose="02020603050405020304" pitchFamily="18" charset="0"/>
              </a:rPr>
              <a:t>INTRODUCTION &amp; BACKGROUND</a:t>
            </a:r>
            <a:br>
              <a:rPr lang="en-US" sz="3600" dirty="0">
                <a:effectLst/>
                <a:latin typeface="Times New Roman" panose="02020603050405020304" pitchFamily="18" charset="0"/>
                <a:ea typeface="Calibri" panose="020F0502020204030204" pitchFamily="34"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B0A6522-0A05-42EF-9B5E-9604B2CE134E}"/>
              </a:ext>
            </a:extLst>
          </p:cNvPr>
          <p:cNvSpPr>
            <a:spLocks noGrp="1"/>
          </p:cNvSpPr>
          <p:nvPr>
            <p:ph idx="1"/>
          </p:nvPr>
        </p:nvSpPr>
        <p:spPr>
          <a:xfrm>
            <a:off x="838200" y="2039007"/>
            <a:ext cx="10515600" cy="3909848"/>
          </a:xfrm>
        </p:spPr>
        <p:txBody>
          <a:bodyPr>
            <a:normAutofit fontScale="92500"/>
          </a:bodyPr>
          <a:lstStyle/>
          <a:p>
            <a:pPr marL="0" indent="0">
              <a:buNone/>
            </a:pPr>
            <a:r>
              <a:rPr lang="en-GB" sz="3200" b="0" dirty="0">
                <a:solidFill>
                  <a:srgbClr val="000000"/>
                </a:solidFill>
                <a:effectLst/>
                <a:latin typeface="Times New Roman" panose="02020603050405020304" pitchFamily="18" charset="0"/>
                <a:cs typeface="Times New Roman" panose="02020603050405020304" pitchFamily="18" charset="0"/>
              </a:rPr>
              <a:t>With the rapid growth of digital gaming, concerns have emerged regarding its potential effects on academic achievement and workplace productivity. While gaming can offer cognitive and stress relief benefits, excessive gaming may negatively influence sleep patterns, focus levels, stress, and overall performance.</a:t>
            </a:r>
            <a:br>
              <a:rPr lang="en-GB" sz="3200" b="0" dirty="0">
                <a:solidFill>
                  <a:srgbClr val="000000"/>
                </a:solidFill>
                <a:effectLst/>
                <a:latin typeface="Times New Roman" panose="02020603050405020304" pitchFamily="18" charset="0"/>
                <a:cs typeface="Times New Roman" panose="02020603050405020304" pitchFamily="18" charset="0"/>
              </a:rPr>
            </a:br>
            <a:r>
              <a:rPr lang="en-GB" sz="3200" b="0" dirty="0">
                <a:solidFill>
                  <a:srgbClr val="000000"/>
                </a:solidFill>
                <a:effectLst/>
                <a:latin typeface="Times New Roman" panose="02020603050405020304" pitchFamily="18" charset="0"/>
                <a:cs typeface="Times New Roman" panose="02020603050405020304" pitchFamily="18" charset="0"/>
              </a:rPr>
              <a:t>This study aims to analyse the relationship between gaming behaviour (daily and weekly gaming hours, game type, and gaming time) and performance outcomes such as academic or work scores, productivity levels, and perceived performance impact.</a:t>
            </a:r>
          </a:p>
          <a:p>
            <a:endParaRPr lang="en-US" dirty="0"/>
          </a:p>
        </p:txBody>
      </p:sp>
    </p:spTree>
    <p:extLst>
      <p:ext uri="{BB962C8B-B14F-4D97-AF65-F5344CB8AC3E}">
        <p14:creationId xmlns:p14="http://schemas.microsoft.com/office/powerpoint/2010/main" val="2954022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A0A7B-F6E3-4FD0-AC6B-DB72F94B84F7}"/>
              </a:ext>
            </a:extLst>
          </p:cNvPr>
          <p:cNvSpPr>
            <a:spLocks noGrp="1"/>
          </p:cNvSpPr>
          <p:nvPr>
            <p:ph type="title"/>
          </p:nvPr>
        </p:nvSpPr>
        <p:spPr/>
        <p:txBody>
          <a:bodyPr/>
          <a:lstStyle/>
          <a:p>
            <a:r>
              <a:rPr lang="en-GB" b="1" dirty="0">
                <a:solidFill>
                  <a:srgbClr val="000000"/>
                </a:solidFill>
                <a:effectLst/>
                <a:latin typeface="Times New Roman" panose="02020603050405020304" pitchFamily="18" charset="0"/>
                <a:cs typeface="Times New Roman" panose="02020603050405020304" pitchFamily="18" charset="0"/>
              </a:rPr>
              <a:t>PROBLEM STATEMENT</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39274A4-DF4F-4D70-8685-60FB16666866}"/>
              </a:ext>
            </a:extLst>
          </p:cNvPr>
          <p:cNvSpPr>
            <a:spLocks noGrp="1"/>
          </p:cNvSpPr>
          <p:nvPr>
            <p:ph idx="1"/>
          </p:nvPr>
        </p:nvSpPr>
        <p:spPr>
          <a:xfrm>
            <a:off x="838200" y="1825624"/>
            <a:ext cx="10515600" cy="4186293"/>
          </a:xfrm>
        </p:spPr>
        <p:txBody>
          <a:bodyPr>
            <a:normAutofit fontScale="92500" lnSpcReduction="20000"/>
          </a:bodyPr>
          <a:lstStyle/>
          <a:p>
            <a:pPr marL="0" indent="0">
              <a:buNone/>
            </a:pPr>
            <a:br>
              <a:rPr lang="en-GB" b="0" dirty="0">
                <a:solidFill>
                  <a:srgbClr val="000000"/>
                </a:solidFill>
                <a:effectLst/>
                <a:latin typeface="Courier New" panose="02070309020205020404" pitchFamily="49" charset="0"/>
              </a:rPr>
            </a:br>
            <a:r>
              <a:rPr lang="en-GB" sz="3900" b="0" dirty="0">
                <a:solidFill>
                  <a:srgbClr val="000000"/>
                </a:solidFill>
                <a:effectLst/>
                <a:latin typeface="Times New Roman" panose="02020603050405020304" pitchFamily="18" charset="0"/>
                <a:cs typeface="Times New Roman" panose="02020603050405020304" pitchFamily="18" charset="0"/>
              </a:rPr>
              <a:t>There is limited data driven evidence that clearly explains:</a:t>
            </a:r>
            <a:br>
              <a:rPr lang="en-GB" sz="3900" b="0" dirty="0">
                <a:solidFill>
                  <a:srgbClr val="000000"/>
                </a:solidFill>
                <a:effectLst/>
                <a:latin typeface="Times New Roman" panose="02020603050405020304" pitchFamily="18" charset="0"/>
                <a:cs typeface="Times New Roman" panose="02020603050405020304" pitchFamily="18" charset="0"/>
              </a:rPr>
            </a:br>
            <a:r>
              <a:rPr lang="en-GB" sz="3900" b="0" dirty="0">
                <a:effectLst/>
                <a:latin typeface="Times New Roman" panose="02020603050405020304" pitchFamily="18" charset="0"/>
                <a:cs typeface="Times New Roman" panose="02020603050405020304" pitchFamily="18" charset="0"/>
              </a:rPr>
              <a:t>1. How gaming hours affect academic or work performance</a:t>
            </a:r>
            <a:br>
              <a:rPr lang="en-GB" sz="3900" b="0" dirty="0">
                <a:effectLst/>
                <a:latin typeface="Times New Roman" panose="02020603050405020304" pitchFamily="18" charset="0"/>
                <a:cs typeface="Times New Roman" panose="02020603050405020304" pitchFamily="18" charset="0"/>
              </a:rPr>
            </a:br>
            <a:r>
              <a:rPr lang="en-GB" sz="3900" b="0" dirty="0">
                <a:effectLst/>
                <a:latin typeface="Times New Roman" panose="02020603050405020304" pitchFamily="18" charset="0"/>
                <a:cs typeface="Times New Roman" panose="02020603050405020304" pitchFamily="18" charset="0"/>
              </a:rPr>
              <a:t>2. Whether gaming influences productivity, focus, stress, and sleep</a:t>
            </a:r>
            <a:br>
              <a:rPr lang="en-GB" sz="3900" b="0" dirty="0">
                <a:effectLst/>
                <a:latin typeface="Times New Roman" panose="02020603050405020304" pitchFamily="18" charset="0"/>
                <a:cs typeface="Times New Roman" panose="02020603050405020304" pitchFamily="18" charset="0"/>
              </a:rPr>
            </a:br>
            <a:r>
              <a:rPr lang="en-GB" sz="3900" b="0" dirty="0">
                <a:effectLst/>
                <a:latin typeface="Times New Roman" panose="02020603050405020304" pitchFamily="18" charset="0"/>
                <a:cs typeface="Times New Roman" panose="02020603050405020304" pitchFamily="18" charset="0"/>
              </a:rPr>
              <a:t>3. </a:t>
            </a:r>
            <a:r>
              <a:rPr lang="en-GB" sz="3900" b="0" dirty="0">
                <a:solidFill>
                  <a:srgbClr val="000000"/>
                </a:solidFill>
                <a:effectLst/>
                <a:latin typeface="Times New Roman" panose="02020603050405020304" pitchFamily="18" charset="0"/>
                <a:cs typeface="Times New Roman" panose="02020603050405020304" pitchFamily="18" charset="0"/>
              </a:rPr>
              <a:t>Which gaming patterns are beneficial versus harmful</a:t>
            </a:r>
            <a:br>
              <a:rPr lang="en-GB" sz="3900" b="0" dirty="0">
                <a:solidFill>
                  <a:srgbClr val="000000"/>
                </a:solidFill>
                <a:effectLst/>
                <a:latin typeface="Times New Roman" panose="02020603050405020304" pitchFamily="18" charset="0"/>
                <a:cs typeface="Times New Roman" panose="02020603050405020304" pitchFamily="18" charset="0"/>
              </a:rPr>
            </a:br>
            <a:r>
              <a:rPr lang="en-GB" sz="3900" b="0" dirty="0">
                <a:solidFill>
                  <a:srgbClr val="000000"/>
                </a:solidFill>
                <a:effectLst/>
                <a:latin typeface="Times New Roman" panose="02020603050405020304" pitchFamily="18" charset="0"/>
                <a:cs typeface="Times New Roman" panose="02020603050405020304" pitchFamily="18" charset="0"/>
              </a:rPr>
              <a:t>This project seeks to bridge that gap using structured data analysis and visualization</a:t>
            </a:r>
          </a:p>
          <a:p>
            <a:endParaRPr lang="en-US" dirty="0"/>
          </a:p>
        </p:txBody>
      </p:sp>
    </p:spTree>
    <p:extLst>
      <p:ext uri="{BB962C8B-B14F-4D97-AF65-F5344CB8AC3E}">
        <p14:creationId xmlns:p14="http://schemas.microsoft.com/office/powerpoint/2010/main" val="3335082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8CB22-0C3D-4ECD-8062-519DAE723CBC}"/>
              </a:ext>
            </a:extLst>
          </p:cNvPr>
          <p:cNvSpPr>
            <a:spLocks noGrp="1"/>
          </p:cNvSpPr>
          <p:nvPr>
            <p:ph type="title"/>
          </p:nvPr>
        </p:nvSpPr>
        <p:spPr>
          <a:xfrm>
            <a:off x="838200" y="681037"/>
            <a:ext cx="10515600" cy="1325563"/>
          </a:xfrm>
        </p:spPr>
        <p:txBody>
          <a:bodyPr>
            <a:normAutofit fontScale="90000"/>
          </a:bodyPr>
          <a:lstStyle/>
          <a:p>
            <a:r>
              <a:rPr lang="en-US" b="1" dirty="0">
                <a:solidFill>
                  <a:srgbClr val="000000"/>
                </a:solidFill>
                <a:effectLst/>
                <a:latin typeface="Times New Roman" panose="02020603050405020304" pitchFamily="18" charset="0"/>
                <a:cs typeface="Times New Roman" panose="02020603050405020304" pitchFamily="18" charset="0"/>
              </a:rPr>
              <a:t>OBJECTIVES OF THE STUDY</a:t>
            </a:r>
            <a:br>
              <a:rPr lang="en-US" b="0" dirty="0">
                <a:solidFill>
                  <a:srgbClr val="000000"/>
                </a:solidFill>
                <a:effectLst/>
                <a:latin typeface="Courier New" panose="02070309020205020404" pitchFamily="49" charset="0"/>
              </a:rPr>
            </a:br>
            <a:endParaRPr lang="en-US" dirty="0"/>
          </a:p>
        </p:txBody>
      </p:sp>
      <p:sp>
        <p:nvSpPr>
          <p:cNvPr id="3" name="Content Placeholder 2">
            <a:extLst>
              <a:ext uri="{FF2B5EF4-FFF2-40B4-BE49-F238E27FC236}">
                <a16:creationId xmlns:a16="http://schemas.microsoft.com/office/drawing/2014/main" id="{F3571DB5-9608-4369-AAF7-F330C58A0497}"/>
              </a:ext>
            </a:extLst>
          </p:cNvPr>
          <p:cNvSpPr>
            <a:spLocks noGrp="1"/>
          </p:cNvSpPr>
          <p:nvPr>
            <p:ph idx="1"/>
          </p:nvPr>
        </p:nvSpPr>
        <p:spPr/>
        <p:txBody>
          <a:bodyPr>
            <a:normAutofit fontScale="32500" lnSpcReduction="20000"/>
          </a:bodyPr>
          <a:lstStyle/>
          <a:p>
            <a:pPr marL="0" indent="0">
              <a:buNone/>
            </a:pPr>
            <a:r>
              <a:rPr lang="en-GB" sz="6000" b="0" dirty="0">
                <a:solidFill>
                  <a:srgbClr val="000000"/>
                </a:solidFill>
                <a:effectLst/>
                <a:latin typeface="Times New Roman" panose="02020603050405020304" pitchFamily="18" charset="0"/>
                <a:cs typeface="Times New Roman" panose="02020603050405020304" pitchFamily="18" charset="0"/>
              </a:rPr>
              <a:t> The main objectives of this analysis are to:</a:t>
            </a:r>
          </a:p>
          <a:p>
            <a:pPr marL="0" indent="0">
              <a:buNone/>
            </a:pPr>
            <a:br>
              <a:rPr lang="en-GB" sz="6000" b="0" dirty="0">
                <a:solidFill>
                  <a:srgbClr val="000000"/>
                </a:solidFill>
                <a:effectLst/>
                <a:latin typeface="Times New Roman" panose="02020603050405020304" pitchFamily="18" charset="0"/>
                <a:cs typeface="Times New Roman" panose="02020603050405020304" pitchFamily="18" charset="0"/>
              </a:rPr>
            </a:br>
            <a:r>
              <a:rPr lang="en-GB" sz="6000" b="0" dirty="0">
                <a:effectLst/>
                <a:latin typeface="Times New Roman" panose="02020603050405020304" pitchFamily="18" charset="0"/>
                <a:cs typeface="Times New Roman" panose="02020603050405020304" pitchFamily="18" charset="0"/>
              </a:rPr>
              <a:t>1. Examine the relationship between daily and weekly gaming hours and academic or work performance.</a:t>
            </a:r>
          </a:p>
          <a:p>
            <a:pPr marL="0" indent="0">
              <a:buNone/>
            </a:pPr>
            <a:br>
              <a:rPr lang="en-GB" sz="6000" b="0" dirty="0">
                <a:effectLst/>
                <a:latin typeface="Times New Roman" panose="02020603050405020304" pitchFamily="18" charset="0"/>
                <a:cs typeface="Times New Roman" panose="02020603050405020304" pitchFamily="18" charset="0"/>
              </a:rPr>
            </a:br>
            <a:r>
              <a:rPr lang="en-GB" sz="6000" b="0" dirty="0">
                <a:effectLst/>
                <a:latin typeface="Times New Roman" panose="02020603050405020304" pitchFamily="18" charset="0"/>
                <a:cs typeface="Times New Roman" panose="02020603050405020304" pitchFamily="18" charset="0"/>
              </a:rPr>
              <a:t>2. Analyse how sleep hours, stress level, and focus level mediate the effect of gaming on performance.</a:t>
            </a:r>
          </a:p>
          <a:p>
            <a:pPr marL="0" indent="0">
              <a:buNone/>
            </a:pPr>
            <a:br>
              <a:rPr lang="en-GB" sz="6000" b="0" dirty="0">
                <a:effectLst/>
                <a:latin typeface="Times New Roman" panose="02020603050405020304" pitchFamily="18" charset="0"/>
                <a:cs typeface="Times New Roman" panose="02020603050405020304" pitchFamily="18" charset="0"/>
              </a:rPr>
            </a:br>
            <a:r>
              <a:rPr lang="en-GB" sz="6000" b="0" dirty="0">
                <a:effectLst/>
                <a:latin typeface="Times New Roman" panose="02020603050405020304" pitchFamily="18" charset="0"/>
                <a:cs typeface="Times New Roman" panose="02020603050405020304" pitchFamily="18" charset="0"/>
              </a:rPr>
              <a:t>3. Identify gaming patterns that lead to high productivity versus negative performance impact.</a:t>
            </a:r>
          </a:p>
          <a:p>
            <a:pPr marL="0" indent="0">
              <a:buNone/>
            </a:pPr>
            <a:br>
              <a:rPr lang="en-GB" sz="6000" b="0" dirty="0">
                <a:effectLst/>
                <a:latin typeface="Times New Roman" panose="02020603050405020304" pitchFamily="18" charset="0"/>
                <a:cs typeface="Times New Roman" panose="02020603050405020304" pitchFamily="18" charset="0"/>
              </a:rPr>
            </a:br>
            <a:r>
              <a:rPr lang="en-GB" sz="6000" b="0" dirty="0">
                <a:effectLst/>
                <a:latin typeface="Times New Roman" panose="02020603050405020304" pitchFamily="18" charset="0"/>
                <a:cs typeface="Times New Roman" panose="02020603050405020304" pitchFamily="18" charset="0"/>
              </a:rPr>
              <a:t>4. Compare performance outcomes across age groups, gender, occupation, and game types.</a:t>
            </a:r>
          </a:p>
          <a:p>
            <a:pPr marL="0" indent="0">
              <a:buNone/>
            </a:pPr>
            <a:br>
              <a:rPr lang="en-GB" sz="6000" b="0" dirty="0">
                <a:effectLst/>
                <a:latin typeface="Times New Roman" panose="02020603050405020304" pitchFamily="18" charset="0"/>
                <a:cs typeface="Times New Roman" panose="02020603050405020304" pitchFamily="18" charset="0"/>
              </a:rPr>
            </a:br>
            <a:r>
              <a:rPr lang="en-GB" sz="6000" b="0" dirty="0">
                <a:effectLst/>
                <a:latin typeface="Times New Roman" panose="02020603050405020304" pitchFamily="18" charset="0"/>
                <a:cs typeface="Times New Roman" panose="02020603050405020304" pitchFamily="18" charset="0"/>
              </a:rPr>
              <a:t>5. Provide data-driven recommendations for balanced gaming habits.</a:t>
            </a:r>
          </a:p>
          <a:p>
            <a:endParaRPr lang="en-US" dirty="0"/>
          </a:p>
        </p:txBody>
      </p:sp>
    </p:spTree>
    <p:extLst>
      <p:ext uri="{BB962C8B-B14F-4D97-AF65-F5344CB8AC3E}">
        <p14:creationId xmlns:p14="http://schemas.microsoft.com/office/powerpoint/2010/main" val="3991943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1A00C-4F50-47B1-B154-1638D39E3892}"/>
              </a:ext>
            </a:extLst>
          </p:cNvPr>
          <p:cNvSpPr>
            <a:spLocks noGrp="1"/>
          </p:cNvSpPr>
          <p:nvPr>
            <p:ph type="title"/>
          </p:nvPr>
        </p:nvSpPr>
        <p:spPr/>
        <p:txBody>
          <a:bodyPr/>
          <a:lstStyle/>
          <a:p>
            <a:r>
              <a:rPr lang="en-US" b="1" i="0" dirty="0">
                <a:solidFill>
                  <a:srgbClr val="1F1F1F"/>
                </a:solidFill>
                <a:effectLst/>
                <a:latin typeface="Times New Roman" panose="02020603050405020304" pitchFamily="18" charset="0"/>
                <a:cs typeface="Times New Roman" panose="02020603050405020304" pitchFamily="18" charset="0"/>
              </a:rPr>
              <a:t>DATASET DESCRIPTION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BAED69B-2D80-4FC1-989F-5A131371EE59}"/>
              </a:ext>
            </a:extLst>
          </p:cNvPr>
          <p:cNvSpPr>
            <a:spLocks noGrp="1"/>
          </p:cNvSpPr>
          <p:nvPr>
            <p:ph idx="1"/>
          </p:nvPr>
        </p:nvSpPr>
        <p:spPr>
          <a:xfrm>
            <a:off x="1097280" y="1877265"/>
            <a:ext cx="10058400" cy="4023360"/>
          </a:xfrm>
        </p:spPr>
        <p:txBody>
          <a:bodyPr>
            <a:normAutofit/>
          </a:bodyPr>
          <a:lstStyle/>
          <a:p>
            <a:pPr marL="0" indent="0" algn="l">
              <a:buNone/>
            </a:pPr>
            <a:r>
              <a:rPr lang="en-GB" sz="2400" b="0" i="0" dirty="0">
                <a:solidFill>
                  <a:schemeClr val="tx1"/>
                </a:solidFill>
                <a:effectLst/>
                <a:latin typeface="Times New Roman" panose="02020603050405020304" pitchFamily="18" charset="0"/>
                <a:cs typeface="Times New Roman" panose="02020603050405020304" pitchFamily="18" charset="0"/>
              </a:rPr>
              <a:t>The dataset contains individual-level data with the following key variables:</a:t>
            </a:r>
          </a:p>
          <a:p>
            <a:pPr algn="l">
              <a:buFont typeface="+mj-lt"/>
              <a:buAutoNum type="arabicPeriod"/>
            </a:pPr>
            <a:r>
              <a:rPr lang="en-GB" sz="2400" b="0" i="0" dirty="0">
                <a:solidFill>
                  <a:schemeClr val="tx1"/>
                </a:solidFill>
                <a:effectLst/>
                <a:latin typeface="Times New Roman" panose="02020603050405020304" pitchFamily="18" charset="0"/>
                <a:cs typeface="Times New Roman" panose="02020603050405020304" pitchFamily="18" charset="0"/>
              </a:rPr>
              <a:t>Demographics: User ID, Age, Gender, Occupation</a:t>
            </a:r>
          </a:p>
          <a:p>
            <a:pPr algn="l">
              <a:buFont typeface="+mj-lt"/>
              <a:buAutoNum type="arabicPeriod"/>
            </a:pPr>
            <a:r>
              <a:rPr lang="en-GB" sz="2400" b="0" i="0" dirty="0">
                <a:solidFill>
                  <a:schemeClr val="tx1"/>
                </a:solidFill>
                <a:effectLst/>
                <a:latin typeface="Times New Roman" panose="02020603050405020304" pitchFamily="18" charset="0"/>
                <a:cs typeface="Times New Roman" panose="02020603050405020304" pitchFamily="18" charset="0"/>
              </a:rPr>
              <a:t>Gaming Behaviour: Game Type, Daily Gaming Hours, Weekly Gaming Hours,  Primary Gaming Time</a:t>
            </a:r>
          </a:p>
          <a:p>
            <a:pPr algn="l">
              <a:buFont typeface="+mj-lt"/>
              <a:buAutoNum type="arabicPeriod"/>
            </a:pPr>
            <a:r>
              <a:rPr lang="en-GB" sz="2400" b="0" i="0" dirty="0">
                <a:solidFill>
                  <a:schemeClr val="tx1"/>
                </a:solidFill>
                <a:effectLst/>
                <a:latin typeface="Times New Roman" panose="02020603050405020304" pitchFamily="18" charset="0"/>
                <a:cs typeface="Times New Roman" panose="02020603050405020304" pitchFamily="18" charset="0"/>
              </a:rPr>
              <a:t>Well-being Indicators: Sleep Hours, Stress Level, Focus Level</a:t>
            </a:r>
          </a:p>
          <a:p>
            <a:pPr algn="l">
              <a:buFont typeface="+mj-lt"/>
              <a:buAutoNum type="arabicPeriod"/>
            </a:pPr>
            <a:r>
              <a:rPr lang="en-GB" sz="2400" b="0" i="0" dirty="0">
                <a:solidFill>
                  <a:schemeClr val="tx1"/>
                </a:solidFill>
                <a:effectLst/>
                <a:latin typeface="Times New Roman" panose="02020603050405020304" pitchFamily="18" charset="0"/>
                <a:cs typeface="Times New Roman" panose="02020603050405020304" pitchFamily="18" charset="0"/>
              </a:rPr>
              <a:t>Performance Metrics: Academic or Work Score, Productivity Level, Performance Impact</a:t>
            </a:r>
          </a:p>
          <a:p>
            <a:pPr marL="0" indent="0" algn="l">
              <a:buNone/>
            </a:pPr>
            <a:r>
              <a:rPr lang="en-GB" sz="2400" b="0" i="0" dirty="0">
                <a:solidFill>
                  <a:schemeClr val="tx1"/>
                </a:solidFill>
                <a:effectLst/>
                <a:latin typeface="Times New Roman" panose="02020603050405020304" pitchFamily="18" charset="0"/>
                <a:cs typeface="Times New Roman" panose="02020603050405020304" pitchFamily="18" charset="0"/>
              </a:rPr>
              <a:t>Each row represents a unique user, allowing both behavioural and outcome-based analysis.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0437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DE4E1-6B1B-42C3-90C4-56EF2C407B8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 CLEANING AND INSPECTION</a:t>
            </a:r>
          </a:p>
        </p:txBody>
      </p:sp>
      <p:sp>
        <p:nvSpPr>
          <p:cNvPr id="3" name="Content Placeholder 2">
            <a:extLst>
              <a:ext uri="{FF2B5EF4-FFF2-40B4-BE49-F238E27FC236}">
                <a16:creationId xmlns:a16="http://schemas.microsoft.com/office/drawing/2014/main" id="{041190B6-F5AA-4BEF-BC00-13591F902F24}"/>
              </a:ext>
            </a:extLst>
          </p:cNvPr>
          <p:cNvSpPr>
            <a:spLocks noGrp="1"/>
          </p:cNvSpPr>
          <p:nvPr>
            <p:ph idx="1"/>
          </p:nvPr>
        </p:nvSpPr>
        <p:spPr/>
        <p:txBody>
          <a:bodyPr>
            <a:normAutofit/>
          </a:bodyPr>
          <a:lstStyle/>
          <a:p>
            <a:pPr marL="514350" indent="-514350">
              <a:buFont typeface="+mj-lt"/>
              <a:buAutoNum type="arabicPeriod"/>
            </a:pPr>
            <a:r>
              <a:rPr lang="en-US" sz="3200" dirty="0">
                <a:latin typeface="Times New Roman" panose="02020603050405020304" pitchFamily="18" charset="0"/>
                <a:cs typeface="Times New Roman" panose="02020603050405020304" pitchFamily="18" charset="0"/>
              </a:rPr>
              <a:t> </a:t>
            </a:r>
            <a:r>
              <a:rPr lang="en-GB" sz="3200" dirty="0">
                <a:latin typeface="Times New Roman" panose="02020603050405020304" pitchFamily="18" charset="0"/>
                <a:cs typeface="Times New Roman" panose="02020603050405020304" pitchFamily="18" charset="0"/>
              </a:rPr>
              <a:t>Checked for missing values – no missing data found</a:t>
            </a:r>
          </a:p>
          <a:p>
            <a:pPr marL="514350" indent="-514350">
              <a:buFont typeface="+mj-lt"/>
              <a:buAutoNum type="arabicPeriod"/>
            </a:pPr>
            <a:r>
              <a:rPr lang="en-GB" sz="3200" dirty="0">
                <a:latin typeface="Times New Roman" panose="02020603050405020304" pitchFamily="18" charset="0"/>
                <a:cs typeface="Times New Roman" panose="02020603050405020304" pitchFamily="18" charset="0"/>
              </a:rPr>
              <a:t>Checked for duplicate records – no duplicates detected</a:t>
            </a:r>
          </a:p>
          <a:p>
            <a:pPr marL="514350" indent="-514350">
              <a:buFont typeface="+mj-lt"/>
              <a:buAutoNum type="arabicPeriod"/>
            </a:pPr>
            <a:r>
              <a:rPr lang="en-GB" sz="3200" dirty="0">
                <a:latin typeface="Times New Roman" panose="02020603050405020304" pitchFamily="18" charset="0"/>
                <a:cs typeface="Times New Roman" panose="02020603050405020304" pitchFamily="18" charset="0"/>
              </a:rPr>
              <a:t>Verified data consistency and structure</a:t>
            </a:r>
          </a:p>
          <a:p>
            <a:pPr marL="514350" indent="-514350">
              <a:buFont typeface="+mj-lt"/>
              <a:buAutoNum type="arabicPeriod"/>
            </a:pPr>
            <a:r>
              <a:rPr lang="en-GB" sz="3200" dirty="0">
                <a:latin typeface="Times New Roman" panose="02020603050405020304" pitchFamily="18" charset="0"/>
                <a:cs typeface="Times New Roman" panose="02020603050405020304" pitchFamily="18" charset="0"/>
              </a:rPr>
              <a:t>Cleaned column headers by removing unnecessary spaces in Excel</a:t>
            </a:r>
          </a:p>
          <a:p>
            <a:pPr marL="514350" indent="-514350">
              <a:buFont typeface="+mj-lt"/>
              <a:buAutoNum type="arabicPeriod"/>
            </a:pPr>
            <a:r>
              <a:rPr lang="en-GB" sz="3200" dirty="0">
                <a:latin typeface="Times New Roman" panose="02020603050405020304" pitchFamily="18" charset="0"/>
                <a:cs typeface="Times New Roman" panose="02020603050405020304" pitchFamily="18" charset="0"/>
              </a:rPr>
              <a:t>Ensured all variables were correctly formatted for analysis</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9615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4FAD281-9373-4061-8565-8F609CE712A7}"/>
              </a:ext>
            </a:extLst>
          </p:cNvPr>
          <p:cNvSpPr>
            <a:spLocks noGrp="1"/>
          </p:cNvSpPr>
          <p:nvPr>
            <p:ph type="title"/>
          </p:nvPr>
        </p:nvSpPr>
        <p:spPr/>
        <p:txBody>
          <a:bodyPr>
            <a:normAutofit/>
          </a:bodyPr>
          <a:lstStyle/>
          <a:p>
            <a:r>
              <a:rPr lang="en-US" sz="7200" dirty="0">
                <a:latin typeface="Times New Roman" panose="02020603050405020304" pitchFamily="18" charset="0"/>
                <a:cs typeface="Times New Roman" panose="02020603050405020304" pitchFamily="18" charset="0"/>
              </a:rPr>
              <a:t>ANALYSIS</a:t>
            </a:r>
          </a:p>
        </p:txBody>
      </p:sp>
    </p:spTree>
    <p:extLst>
      <p:ext uri="{BB962C8B-B14F-4D97-AF65-F5344CB8AC3E}">
        <p14:creationId xmlns:p14="http://schemas.microsoft.com/office/powerpoint/2010/main" val="1047729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5A88F-A91A-4B5A-9B03-A9E41BDC8AD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GENDER DISTRIBUTION</a:t>
            </a:r>
          </a:p>
        </p:txBody>
      </p:sp>
      <p:pic>
        <p:nvPicPr>
          <p:cNvPr id="4" name="Content Placeholder 3">
            <a:extLst>
              <a:ext uri="{FF2B5EF4-FFF2-40B4-BE49-F238E27FC236}">
                <a16:creationId xmlns:a16="http://schemas.microsoft.com/office/drawing/2014/main" id="{4371A775-AD62-44D9-9035-9B56C36F5A68}"/>
              </a:ext>
            </a:extLst>
          </p:cNvPr>
          <p:cNvPicPr>
            <a:picLocks noGrp="1" noChangeAspect="1"/>
          </p:cNvPicPr>
          <p:nvPr>
            <p:ph idx="1"/>
          </p:nvPr>
        </p:nvPicPr>
        <p:blipFill>
          <a:blip r:embed="rId2"/>
          <a:stretch>
            <a:fillRect/>
          </a:stretch>
        </p:blipFill>
        <p:spPr>
          <a:xfrm>
            <a:off x="3151914" y="1846263"/>
            <a:ext cx="5948497" cy="4022725"/>
          </a:xfrm>
          <a:prstGeom prst="rect">
            <a:avLst/>
          </a:prstGeom>
        </p:spPr>
      </p:pic>
      <p:sp>
        <p:nvSpPr>
          <p:cNvPr id="5" name="TextBox 4">
            <a:extLst>
              <a:ext uri="{FF2B5EF4-FFF2-40B4-BE49-F238E27FC236}">
                <a16:creationId xmlns:a16="http://schemas.microsoft.com/office/drawing/2014/main" id="{45A226C3-74B6-4936-9DCA-19B01342CAFE}"/>
              </a:ext>
            </a:extLst>
          </p:cNvPr>
          <p:cNvSpPr txBox="1"/>
          <p:nvPr/>
        </p:nvSpPr>
        <p:spPr>
          <a:xfrm>
            <a:off x="655846" y="5654725"/>
            <a:ext cx="3926665" cy="646331"/>
          </a:xfrm>
          <a:prstGeom prst="rect">
            <a:avLst/>
          </a:prstGeom>
          <a:solidFill>
            <a:schemeClr val="accent1">
              <a:lumMod val="60000"/>
              <a:lumOff val="40000"/>
            </a:schemeClr>
          </a:solidFill>
        </p:spPr>
        <p:txBody>
          <a:bodyPr wrap="square" rtlCol="0">
            <a:spAutoFit/>
          </a:bodyPr>
          <a:lstStyle/>
          <a:p>
            <a:r>
              <a:rPr lang="en-US" dirty="0">
                <a:latin typeface="Times New Roman" panose="02020603050405020304" pitchFamily="18" charset="0"/>
                <a:cs typeface="Times New Roman" panose="02020603050405020304" pitchFamily="18" charset="0"/>
              </a:rPr>
              <a:t>For gender distribution, Females dominated the dataset. </a:t>
            </a:r>
          </a:p>
        </p:txBody>
      </p:sp>
    </p:spTree>
    <p:extLst>
      <p:ext uri="{BB962C8B-B14F-4D97-AF65-F5344CB8AC3E}">
        <p14:creationId xmlns:p14="http://schemas.microsoft.com/office/powerpoint/2010/main" val="2328182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25AD3-F530-429A-A10B-6F508780DC1F}"/>
              </a:ext>
            </a:extLst>
          </p:cNvPr>
          <p:cNvSpPr>
            <a:spLocks noGrp="1"/>
          </p:cNvSpPr>
          <p:nvPr>
            <p:ph type="title"/>
          </p:nvPr>
        </p:nvSpPr>
        <p:spPr>
          <a:xfrm>
            <a:off x="1223404" y="989012"/>
            <a:ext cx="10789920" cy="748348"/>
          </a:xfrm>
        </p:spPr>
        <p:txBody>
          <a:bodyPr>
            <a:normAutofit/>
          </a:bodyPr>
          <a:lstStyle/>
          <a:p>
            <a:r>
              <a:rPr lang="en-US" sz="4000" dirty="0">
                <a:solidFill>
                  <a:schemeClr val="tx1"/>
                </a:solidFill>
                <a:latin typeface="Times New Roman" panose="02020603050405020304" pitchFamily="18" charset="0"/>
                <a:cs typeface="Times New Roman" panose="02020603050405020304" pitchFamily="18" charset="0"/>
              </a:rPr>
              <a:t>AGE CLASSIFICATION AND DISTRIBUTION</a:t>
            </a:r>
          </a:p>
        </p:txBody>
      </p:sp>
      <p:pic>
        <p:nvPicPr>
          <p:cNvPr id="6" name="Content Placeholder 5">
            <a:extLst>
              <a:ext uri="{FF2B5EF4-FFF2-40B4-BE49-F238E27FC236}">
                <a16:creationId xmlns:a16="http://schemas.microsoft.com/office/drawing/2014/main" id="{B73C1F58-8F2D-4E6B-8A7D-00ED5D8712E9}"/>
              </a:ext>
            </a:extLst>
          </p:cNvPr>
          <p:cNvPicPr>
            <a:picLocks noGrp="1" noChangeAspect="1"/>
          </p:cNvPicPr>
          <p:nvPr>
            <p:ph idx="1"/>
          </p:nvPr>
        </p:nvPicPr>
        <p:blipFill>
          <a:blip r:embed="rId2"/>
          <a:stretch>
            <a:fillRect/>
          </a:stretch>
        </p:blipFill>
        <p:spPr>
          <a:xfrm>
            <a:off x="1973178" y="1846263"/>
            <a:ext cx="8305969" cy="4022725"/>
          </a:xfrm>
          <a:prstGeom prst="rect">
            <a:avLst/>
          </a:prstGeom>
        </p:spPr>
      </p:pic>
      <p:sp>
        <p:nvSpPr>
          <p:cNvPr id="7" name="TextBox 6">
            <a:extLst>
              <a:ext uri="{FF2B5EF4-FFF2-40B4-BE49-F238E27FC236}">
                <a16:creationId xmlns:a16="http://schemas.microsoft.com/office/drawing/2014/main" id="{FB1EE754-9579-4FFB-BAEE-C49A4476DD57}"/>
              </a:ext>
            </a:extLst>
          </p:cNvPr>
          <p:cNvSpPr txBox="1"/>
          <p:nvPr/>
        </p:nvSpPr>
        <p:spPr>
          <a:xfrm>
            <a:off x="293238" y="5299280"/>
            <a:ext cx="1860331" cy="830997"/>
          </a:xfrm>
          <a:prstGeom prst="rect">
            <a:avLst/>
          </a:prstGeom>
          <a:solidFill>
            <a:schemeClr val="accent1">
              <a:lumMod val="60000"/>
              <a:lumOff val="40000"/>
            </a:schemeClr>
          </a:solidFill>
        </p:spPr>
        <p:txBody>
          <a:bodyPr wrap="square" rtlCol="0">
            <a:spAutoFit/>
          </a:bodyPr>
          <a:lstStyle/>
          <a:p>
            <a:r>
              <a:rPr lang="en-US" sz="1600" dirty="0"/>
              <a:t>Young Adult= 18-23</a:t>
            </a:r>
          </a:p>
          <a:p>
            <a:r>
              <a:rPr lang="en-US" sz="1600" dirty="0"/>
              <a:t>Est Adult= 24-29</a:t>
            </a:r>
          </a:p>
          <a:p>
            <a:r>
              <a:rPr lang="en-US" sz="1600" dirty="0"/>
              <a:t>Early Prof= 30-35</a:t>
            </a:r>
          </a:p>
        </p:txBody>
      </p:sp>
    </p:spTree>
    <p:extLst>
      <p:ext uri="{BB962C8B-B14F-4D97-AF65-F5344CB8AC3E}">
        <p14:creationId xmlns:p14="http://schemas.microsoft.com/office/powerpoint/2010/main" val="396668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AEBE1-999B-43E3-9E63-CAAC85181FF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OCCUPATION DISTRIBUTION</a:t>
            </a:r>
          </a:p>
        </p:txBody>
      </p:sp>
      <p:pic>
        <p:nvPicPr>
          <p:cNvPr id="7" name="Content Placeholder 6">
            <a:extLst>
              <a:ext uri="{FF2B5EF4-FFF2-40B4-BE49-F238E27FC236}">
                <a16:creationId xmlns:a16="http://schemas.microsoft.com/office/drawing/2014/main" id="{CDEA0182-F86C-4153-823E-030C2A74B031}"/>
              </a:ext>
            </a:extLst>
          </p:cNvPr>
          <p:cNvPicPr>
            <a:picLocks noGrp="1" noChangeAspect="1"/>
          </p:cNvPicPr>
          <p:nvPr>
            <p:ph idx="1"/>
          </p:nvPr>
        </p:nvPicPr>
        <p:blipFill>
          <a:blip r:embed="rId2"/>
          <a:stretch>
            <a:fillRect/>
          </a:stretch>
        </p:blipFill>
        <p:spPr>
          <a:xfrm>
            <a:off x="3151914" y="1846263"/>
            <a:ext cx="5948497" cy="4022725"/>
          </a:xfrm>
          <a:prstGeom prst="rect">
            <a:avLst/>
          </a:prstGeom>
        </p:spPr>
      </p:pic>
      <p:sp>
        <p:nvSpPr>
          <p:cNvPr id="8" name="TextBox 7">
            <a:extLst>
              <a:ext uri="{FF2B5EF4-FFF2-40B4-BE49-F238E27FC236}">
                <a16:creationId xmlns:a16="http://schemas.microsoft.com/office/drawing/2014/main" id="{9D46D779-8CBA-4A25-8BA7-B142142B8C3A}"/>
              </a:ext>
            </a:extLst>
          </p:cNvPr>
          <p:cNvSpPr txBox="1"/>
          <p:nvPr/>
        </p:nvSpPr>
        <p:spPr>
          <a:xfrm>
            <a:off x="367862" y="5120641"/>
            <a:ext cx="2680138" cy="923330"/>
          </a:xfrm>
          <a:prstGeom prst="rect">
            <a:avLst/>
          </a:prstGeom>
          <a:solidFill>
            <a:schemeClr val="accent1">
              <a:lumMod val="60000"/>
              <a:lumOff val="40000"/>
            </a:schemeClr>
          </a:solidFill>
        </p:spPr>
        <p:txBody>
          <a:bodyPr wrap="square" rtlCol="0">
            <a:spAutoFit/>
          </a:bodyPr>
          <a:lstStyle/>
          <a:p>
            <a:r>
              <a:rPr lang="en-US" dirty="0">
                <a:latin typeface="Times New Roman" panose="02020603050405020304" pitchFamily="18" charset="0"/>
                <a:cs typeface="Times New Roman" panose="02020603050405020304" pitchFamily="18" charset="0"/>
              </a:rPr>
              <a:t>Students were more than working professionals in the dataset.</a:t>
            </a:r>
          </a:p>
        </p:txBody>
      </p:sp>
    </p:spTree>
    <p:extLst>
      <p:ext uri="{BB962C8B-B14F-4D97-AF65-F5344CB8AC3E}">
        <p14:creationId xmlns:p14="http://schemas.microsoft.com/office/powerpoint/2010/main" val="3258297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F075E-A970-4D58-AB9C-9DD380E0B6D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GAME TYPE DISTRIBUTION</a:t>
            </a:r>
          </a:p>
        </p:txBody>
      </p:sp>
      <p:pic>
        <p:nvPicPr>
          <p:cNvPr id="4" name="Content Placeholder 3">
            <a:extLst>
              <a:ext uri="{FF2B5EF4-FFF2-40B4-BE49-F238E27FC236}">
                <a16:creationId xmlns:a16="http://schemas.microsoft.com/office/drawing/2014/main" id="{643D6B89-F891-4458-B650-A72751959418}"/>
              </a:ext>
            </a:extLst>
          </p:cNvPr>
          <p:cNvPicPr>
            <a:picLocks noGrp="1" noChangeAspect="1"/>
          </p:cNvPicPr>
          <p:nvPr>
            <p:ph idx="1"/>
          </p:nvPr>
        </p:nvPicPr>
        <p:blipFill>
          <a:blip r:embed="rId2"/>
          <a:stretch>
            <a:fillRect/>
          </a:stretch>
        </p:blipFill>
        <p:spPr>
          <a:xfrm>
            <a:off x="1973178" y="1846263"/>
            <a:ext cx="8305969" cy="4022725"/>
          </a:xfrm>
          <a:prstGeom prst="rect">
            <a:avLst/>
          </a:prstGeom>
        </p:spPr>
      </p:pic>
      <p:sp>
        <p:nvSpPr>
          <p:cNvPr id="5" name="TextBox 4">
            <a:extLst>
              <a:ext uri="{FF2B5EF4-FFF2-40B4-BE49-F238E27FC236}">
                <a16:creationId xmlns:a16="http://schemas.microsoft.com/office/drawing/2014/main" id="{A5D9722B-9C8F-44BA-99A4-6D54BCDCDC88}"/>
              </a:ext>
            </a:extLst>
          </p:cNvPr>
          <p:cNvSpPr txBox="1"/>
          <p:nvPr/>
        </p:nvSpPr>
        <p:spPr>
          <a:xfrm>
            <a:off x="378372" y="5570483"/>
            <a:ext cx="3121573" cy="646331"/>
          </a:xfrm>
          <a:prstGeom prst="rect">
            <a:avLst/>
          </a:prstGeom>
          <a:solidFill>
            <a:schemeClr val="accent1"/>
          </a:solidFill>
        </p:spPr>
        <p:txBody>
          <a:bodyPr wrap="square" rtlCol="0">
            <a:spAutoFit/>
          </a:bodyPr>
          <a:lstStyle/>
          <a:p>
            <a:r>
              <a:rPr lang="en-GB" dirty="0">
                <a:latin typeface="Times New Roman" panose="02020603050405020304" pitchFamily="18" charset="0"/>
                <a:cs typeface="Times New Roman" panose="02020603050405020304" pitchFamily="18" charset="0"/>
              </a:rPr>
              <a:t>Simulation games were mostly played by the users</a:t>
            </a:r>
            <a:r>
              <a:rPr lang="en-GB" dirty="0"/>
              <a:t>. </a:t>
            </a:r>
            <a:endParaRPr lang="en-US" dirty="0"/>
          </a:p>
        </p:txBody>
      </p:sp>
    </p:spTree>
    <p:extLst>
      <p:ext uri="{BB962C8B-B14F-4D97-AF65-F5344CB8AC3E}">
        <p14:creationId xmlns:p14="http://schemas.microsoft.com/office/powerpoint/2010/main" val="2648816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CD642-2D60-4949-BAF0-5764076FB07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GAME TIME DISTRIBUTION</a:t>
            </a:r>
          </a:p>
        </p:txBody>
      </p:sp>
      <p:pic>
        <p:nvPicPr>
          <p:cNvPr id="4" name="Content Placeholder 3">
            <a:extLst>
              <a:ext uri="{FF2B5EF4-FFF2-40B4-BE49-F238E27FC236}">
                <a16:creationId xmlns:a16="http://schemas.microsoft.com/office/drawing/2014/main" id="{8954E2AC-AE75-404A-8682-D55CAE44D24A}"/>
              </a:ext>
            </a:extLst>
          </p:cNvPr>
          <p:cNvPicPr>
            <a:picLocks noGrp="1" noChangeAspect="1"/>
          </p:cNvPicPr>
          <p:nvPr>
            <p:ph idx="1"/>
          </p:nvPr>
        </p:nvPicPr>
        <p:blipFill>
          <a:blip r:embed="rId2"/>
          <a:stretch>
            <a:fillRect/>
          </a:stretch>
        </p:blipFill>
        <p:spPr>
          <a:xfrm>
            <a:off x="1973178" y="1846263"/>
            <a:ext cx="8305969" cy="4022725"/>
          </a:xfrm>
          <a:prstGeom prst="rect">
            <a:avLst/>
          </a:prstGeom>
        </p:spPr>
      </p:pic>
      <p:sp>
        <p:nvSpPr>
          <p:cNvPr id="5" name="TextBox 4">
            <a:extLst>
              <a:ext uri="{FF2B5EF4-FFF2-40B4-BE49-F238E27FC236}">
                <a16:creationId xmlns:a16="http://schemas.microsoft.com/office/drawing/2014/main" id="{B1AF368E-DC58-4FC7-9CDE-715363BEB41A}"/>
              </a:ext>
            </a:extLst>
          </p:cNvPr>
          <p:cNvSpPr txBox="1"/>
          <p:nvPr/>
        </p:nvSpPr>
        <p:spPr>
          <a:xfrm>
            <a:off x="231228" y="5391807"/>
            <a:ext cx="2396358" cy="646331"/>
          </a:xfrm>
          <a:prstGeom prst="rect">
            <a:avLst/>
          </a:prstGeom>
          <a:solidFill>
            <a:schemeClr val="accent1"/>
          </a:solidFill>
        </p:spPr>
        <p:txBody>
          <a:bodyPr wrap="square" rtlCol="0">
            <a:spAutoFit/>
          </a:bodyPr>
          <a:lstStyle/>
          <a:p>
            <a:r>
              <a:rPr lang="en-US" dirty="0">
                <a:latin typeface="Times New Roman" panose="02020603050405020304" pitchFamily="18" charset="0"/>
                <a:cs typeface="Times New Roman" panose="02020603050405020304" pitchFamily="18" charset="0"/>
              </a:rPr>
              <a:t>Most people play games in the morning.</a:t>
            </a:r>
          </a:p>
        </p:txBody>
      </p:sp>
    </p:spTree>
    <p:extLst>
      <p:ext uri="{BB962C8B-B14F-4D97-AF65-F5344CB8AC3E}">
        <p14:creationId xmlns:p14="http://schemas.microsoft.com/office/powerpoint/2010/main" val="2702377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5A6A5-71ED-46BF-9363-7E8F36AE659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IMPACT BY GAMING INTENSITY</a:t>
            </a:r>
          </a:p>
        </p:txBody>
      </p:sp>
      <p:pic>
        <p:nvPicPr>
          <p:cNvPr id="4" name="Content Placeholder 3">
            <a:extLst>
              <a:ext uri="{FF2B5EF4-FFF2-40B4-BE49-F238E27FC236}">
                <a16:creationId xmlns:a16="http://schemas.microsoft.com/office/drawing/2014/main" id="{A3C8D922-6B81-4E0B-95C4-3C77822C8626}"/>
              </a:ext>
            </a:extLst>
          </p:cNvPr>
          <p:cNvPicPr>
            <a:picLocks noGrp="1" noChangeAspect="1"/>
          </p:cNvPicPr>
          <p:nvPr>
            <p:ph idx="1"/>
          </p:nvPr>
        </p:nvPicPr>
        <p:blipFill>
          <a:blip r:embed="rId2"/>
          <a:stretch>
            <a:fillRect/>
          </a:stretch>
        </p:blipFill>
        <p:spPr>
          <a:xfrm>
            <a:off x="1973178" y="1846263"/>
            <a:ext cx="8305969" cy="4022725"/>
          </a:xfrm>
          <a:prstGeom prst="rect">
            <a:avLst/>
          </a:prstGeom>
        </p:spPr>
      </p:pic>
    </p:spTree>
    <p:extLst>
      <p:ext uri="{BB962C8B-B14F-4D97-AF65-F5344CB8AC3E}">
        <p14:creationId xmlns:p14="http://schemas.microsoft.com/office/powerpoint/2010/main" val="4093277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527FC-EDD5-4CC8-9438-3B1C57D189B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INSIGHT ON GAMING INTENSITY</a:t>
            </a:r>
          </a:p>
        </p:txBody>
      </p:sp>
      <p:sp>
        <p:nvSpPr>
          <p:cNvPr id="3" name="Content Placeholder 2">
            <a:extLst>
              <a:ext uri="{FF2B5EF4-FFF2-40B4-BE49-F238E27FC236}">
                <a16:creationId xmlns:a16="http://schemas.microsoft.com/office/drawing/2014/main" id="{F44EC860-F63D-4A5E-9D77-32A5072B0A64}"/>
              </a:ext>
            </a:extLst>
          </p:cNvPr>
          <p:cNvSpPr>
            <a:spLocks noGrp="1"/>
          </p:cNvSpPr>
          <p:nvPr>
            <p:ph idx="1"/>
          </p:nvPr>
        </p:nvSpPr>
        <p:spPr/>
        <p:txBody>
          <a:bodyPr>
            <a:normAutofit/>
          </a:bodyPr>
          <a:lstStyle/>
          <a:p>
            <a:r>
              <a:rPr lang="en-GB" sz="2800" dirty="0">
                <a:latin typeface="Times New Roman" panose="02020603050405020304" pitchFamily="18" charset="0"/>
                <a:cs typeface="Times New Roman" panose="02020603050405020304" pitchFamily="18" charset="0"/>
              </a:rPr>
              <a:t>The analysis reveals that gaming intensity does not have a uniform impact on academic performance; instead, it follows a clear </a:t>
            </a:r>
            <a:r>
              <a:rPr lang="en-GB" sz="2800" b="1" dirty="0">
                <a:latin typeface="Times New Roman" panose="02020603050405020304" pitchFamily="18" charset="0"/>
                <a:cs typeface="Times New Roman" panose="02020603050405020304" pitchFamily="18" charset="0"/>
              </a:rPr>
              <a:t>threshold pattern</a:t>
            </a:r>
            <a:r>
              <a:rPr lang="en-GB" sz="2800" dirty="0">
                <a:latin typeface="Times New Roman" panose="02020603050405020304" pitchFamily="18" charset="0"/>
                <a:cs typeface="Times New Roman" panose="02020603050405020304" pitchFamily="18" charset="0"/>
              </a:rPr>
              <a:t>. </a:t>
            </a:r>
            <a:r>
              <a:rPr lang="en-GB" sz="2800" b="1" dirty="0">
                <a:latin typeface="Times New Roman" panose="02020603050405020304" pitchFamily="18" charset="0"/>
                <a:cs typeface="Times New Roman" panose="02020603050405020304" pitchFamily="18" charset="0"/>
              </a:rPr>
              <a:t>Low-intensity gamers</a:t>
            </a:r>
            <a:r>
              <a:rPr lang="en-GB" sz="2800" dirty="0">
                <a:latin typeface="Times New Roman" panose="02020603050405020304" pitchFamily="18" charset="0"/>
                <a:cs typeface="Times New Roman" panose="02020603050405020304" pitchFamily="18" charset="0"/>
              </a:rPr>
              <a:t> show the highest potential for academic benefit (38% positive impact), while </a:t>
            </a:r>
            <a:r>
              <a:rPr lang="en-GB" sz="2800" b="1" dirty="0">
                <a:latin typeface="Times New Roman" panose="02020603050405020304" pitchFamily="18" charset="0"/>
                <a:cs typeface="Times New Roman" panose="02020603050405020304" pitchFamily="18" charset="0"/>
              </a:rPr>
              <a:t>Moderate gamers</a:t>
            </a:r>
            <a:r>
              <a:rPr lang="en-GB" sz="2800" dirty="0">
                <a:latin typeface="Times New Roman" panose="02020603050405020304" pitchFamily="18" charset="0"/>
                <a:cs typeface="Times New Roman" panose="02020603050405020304" pitchFamily="18" charset="0"/>
              </a:rPr>
              <a:t> (1-3 hours) enjoy a safe harbour where nearly 88% maintain neutral performance with minimal risk. However, once gaming reaches </a:t>
            </a:r>
            <a:r>
              <a:rPr lang="en-GB" sz="2800" b="1" dirty="0">
                <a:latin typeface="Times New Roman" panose="02020603050405020304" pitchFamily="18" charset="0"/>
                <a:cs typeface="Times New Roman" panose="02020603050405020304" pitchFamily="18" charset="0"/>
              </a:rPr>
              <a:t>High intensity</a:t>
            </a:r>
            <a:r>
              <a:rPr lang="en-GB" sz="2800" dirty="0">
                <a:latin typeface="Times New Roman" panose="02020603050405020304" pitchFamily="18" charset="0"/>
                <a:cs typeface="Times New Roman" panose="02020603050405020304" pitchFamily="18" charset="0"/>
              </a:rPr>
              <a:t>, the probability of a negative impact triples compared to the moderate group. This suggests that academic risk is not driven by gaming itself, but by the loss of time management that occurs once play exceeds the moderate threshold</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632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A200F-B46D-43D6-A1C9-0843F3B21C8C}"/>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CORRELATION MATRIX OF GAMING FACTORS</a:t>
            </a:r>
          </a:p>
        </p:txBody>
      </p:sp>
      <p:pic>
        <p:nvPicPr>
          <p:cNvPr id="4" name="Content Placeholder 3">
            <a:extLst>
              <a:ext uri="{FF2B5EF4-FFF2-40B4-BE49-F238E27FC236}">
                <a16:creationId xmlns:a16="http://schemas.microsoft.com/office/drawing/2014/main" id="{414F59F0-916B-42E8-B9D9-C1293F179E4B}"/>
              </a:ext>
            </a:extLst>
          </p:cNvPr>
          <p:cNvPicPr>
            <a:picLocks noGrp="1" noChangeAspect="1"/>
          </p:cNvPicPr>
          <p:nvPr>
            <p:ph idx="1"/>
          </p:nvPr>
        </p:nvPicPr>
        <p:blipFill>
          <a:blip r:embed="rId2"/>
          <a:stretch>
            <a:fillRect/>
          </a:stretch>
        </p:blipFill>
        <p:spPr>
          <a:xfrm>
            <a:off x="3745289" y="1846263"/>
            <a:ext cx="4761748" cy="4022725"/>
          </a:xfrm>
          <a:prstGeom prst="rect">
            <a:avLst/>
          </a:prstGeom>
        </p:spPr>
      </p:pic>
    </p:spTree>
    <p:extLst>
      <p:ext uri="{BB962C8B-B14F-4D97-AF65-F5344CB8AC3E}">
        <p14:creationId xmlns:p14="http://schemas.microsoft.com/office/powerpoint/2010/main" val="211180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D90C5-FF49-4CC9-BB25-FA3020B799CF}"/>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INSIGHT ON CORRELATION MATRIX</a:t>
            </a:r>
          </a:p>
        </p:txBody>
      </p:sp>
      <p:sp>
        <p:nvSpPr>
          <p:cNvPr id="3" name="Content Placeholder 2">
            <a:extLst>
              <a:ext uri="{FF2B5EF4-FFF2-40B4-BE49-F238E27FC236}">
                <a16:creationId xmlns:a16="http://schemas.microsoft.com/office/drawing/2014/main" id="{EF4DD518-9FCC-41CC-B849-2D5A7ED28F39}"/>
              </a:ext>
            </a:extLst>
          </p:cNvPr>
          <p:cNvSpPr>
            <a:spLocks noGrp="1"/>
          </p:cNvSpPr>
          <p:nvPr>
            <p:ph idx="1"/>
          </p:nvPr>
        </p:nvSpPr>
        <p:spPr/>
        <p:txBody>
          <a:bodyPr>
            <a:normAutofit/>
          </a:bodyPr>
          <a:lstStyle/>
          <a:p>
            <a:r>
              <a:rPr lang="en-GB" sz="2800" dirty="0">
                <a:latin typeface="Times New Roman" panose="02020603050405020304" pitchFamily="18" charset="0"/>
                <a:cs typeface="Times New Roman" panose="02020603050405020304" pitchFamily="18" charset="0"/>
              </a:rPr>
              <a:t>The correlation matrix reveals a surprising lack of a strong linear relationship between Daily Gaming Hours, Sleep, Stress, and Productivity. With all correlation coefficients hovering near zero (between -0.03 and +0.03), the data suggests that these variables operate independently within this dataset. Specifically, an increase in gaming hours does not automatically trigger a decrease in sleep or a spike in stress levels. This indicates that students may be successfully compartmentalizing their gaming habits, or that the impact of gaming on life balance is highly individual and cannot be captured by a simple linear trend.</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5662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41721-78DF-4475-8030-F680B79FA3C4}"/>
              </a:ext>
            </a:extLst>
          </p:cNvPr>
          <p:cNvSpPr>
            <a:spLocks noGrp="1"/>
          </p:cNvSpPr>
          <p:nvPr>
            <p:ph type="title"/>
          </p:nvPr>
        </p:nvSpPr>
        <p:spPr/>
        <p:txBody>
          <a:bodyPr>
            <a:normAutofit/>
          </a:bodyPr>
          <a:lstStyle/>
          <a:p>
            <a:r>
              <a:rPr lang="en-US" sz="4400" dirty="0">
                <a:latin typeface="Times New Roman" panose="02020603050405020304" pitchFamily="18" charset="0"/>
                <a:cs typeface="Times New Roman" panose="02020603050405020304" pitchFamily="18" charset="0"/>
              </a:rPr>
              <a:t>GAMING HOURS AND PRODUCTIVITY</a:t>
            </a:r>
          </a:p>
        </p:txBody>
      </p:sp>
      <p:pic>
        <p:nvPicPr>
          <p:cNvPr id="4" name="Content Placeholder 3">
            <a:extLst>
              <a:ext uri="{FF2B5EF4-FFF2-40B4-BE49-F238E27FC236}">
                <a16:creationId xmlns:a16="http://schemas.microsoft.com/office/drawing/2014/main" id="{C6C2A265-C5DB-4462-A02D-6BA18CEED9E3}"/>
              </a:ext>
            </a:extLst>
          </p:cNvPr>
          <p:cNvPicPr>
            <a:picLocks noGrp="1" noChangeAspect="1"/>
          </p:cNvPicPr>
          <p:nvPr>
            <p:ph idx="1"/>
          </p:nvPr>
        </p:nvPicPr>
        <p:blipFill>
          <a:blip r:embed="rId2"/>
          <a:stretch>
            <a:fillRect/>
          </a:stretch>
        </p:blipFill>
        <p:spPr>
          <a:xfrm>
            <a:off x="3100552" y="1846262"/>
            <a:ext cx="5948497" cy="4022725"/>
          </a:xfrm>
          <a:prstGeom prst="rect">
            <a:avLst/>
          </a:prstGeom>
        </p:spPr>
      </p:pic>
      <p:sp>
        <p:nvSpPr>
          <p:cNvPr id="5" name="TextBox 4">
            <a:extLst>
              <a:ext uri="{FF2B5EF4-FFF2-40B4-BE49-F238E27FC236}">
                <a16:creationId xmlns:a16="http://schemas.microsoft.com/office/drawing/2014/main" id="{B013E416-4886-41A4-B33C-60386D002652}"/>
              </a:ext>
            </a:extLst>
          </p:cNvPr>
          <p:cNvSpPr txBox="1"/>
          <p:nvPr/>
        </p:nvSpPr>
        <p:spPr>
          <a:xfrm>
            <a:off x="136634" y="5707117"/>
            <a:ext cx="5339256" cy="830997"/>
          </a:xfrm>
          <a:prstGeom prst="rect">
            <a:avLst/>
          </a:prstGeom>
          <a:solidFill>
            <a:schemeClr val="accent1"/>
          </a:solidFill>
        </p:spPr>
        <p:txBody>
          <a:bodyPr wrap="square" rtlCol="0">
            <a:spAutoFit/>
          </a:bodyPr>
          <a:lstStyle/>
          <a:p>
            <a:r>
              <a:rPr lang="en-GB" sz="1200" b="0" i="0" dirty="0">
                <a:solidFill>
                  <a:srgbClr val="1F1F1F"/>
                </a:solidFill>
                <a:effectLst/>
                <a:latin typeface="Times New Roman" panose="02020603050405020304" pitchFamily="18" charset="0"/>
                <a:cs typeface="Times New Roman" panose="02020603050405020304" pitchFamily="18" charset="0"/>
              </a:rPr>
              <a:t>The analysis revealed a correlation coefficient of -0.02, indicating a negligible negative linear relationship between gaming hours and productivity levels. This result suggests that within the study group, there is no meaningful connection between the time spent gaming and an individual’s productivity</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6488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2CA8E-8CC4-4338-88B9-1BD1FF5583B6}"/>
              </a:ext>
            </a:extLst>
          </p:cNvPr>
          <p:cNvSpPr>
            <a:spLocks noGrp="1"/>
          </p:cNvSpPr>
          <p:nvPr>
            <p:ph type="title"/>
          </p:nvPr>
        </p:nvSpPr>
        <p:spPr>
          <a:xfrm>
            <a:off x="1097280" y="989012"/>
            <a:ext cx="10058400" cy="748348"/>
          </a:xfrm>
        </p:spPr>
        <p:txBody>
          <a:bodyPr>
            <a:normAutofit/>
          </a:bodyPr>
          <a:lstStyle/>
          <a:p>
            <a:r>
              <a:rPr lang="en-GB" sz="2800" dirty="0">
                <a:latin typeface="Times New Roman" panose="02020603050405020304" pitchFamily="18" charset="0"/>
                <a:cs typeface="Times New Roman" panose="02020603050405020304" pitchFamily="18" charset="0"/>
              </a:rPr>
              <a:t>GAMING HOURS VS SLEEP HOURS AND STRESS LEVEL</a:t>
            </a:r>
            <a:endParaRPr lang="en-US" sz="28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8BB32074-7886-4DF6-88DA-BD333B81E042}"/>
              </a:ext>
            </a:extLst>
          </p:cNvPr>
          <p:cNvPicPr>
            <a:picLocks noGrp="1" noChangeAspect="1"/>
          </p:cNvPicPr>
          <p:nvPr>
            <p:ph idx="1"/>
          </p:nvPr>
        </p:nvPicPr>
        <p:blipFill>
          <a:blip r:embed="rId2"/>
          <a:stretch>
            <a:fillRect/>
          </a:stretch>
        </p:blipFill>
        <p:spPr>
          <a:xfrm>
            <a:off x="1713187" y="1846263"/>
            <a:ext cx="9122978" cy="4375861"/>
          </a:xfrm>
          <a:prstGeom prst="rect">
            <a:avLst/>
          </a:prstGeom>
        </p:spPr>
      </p:pic>
    </p:spTree>
    <p:extLst>
      <p:ext uri="{BB962C8B-B14F-4D97-AF65-F5344CB8AC3E}">
        <p14:creationId xmlns:p14="http://schemas.microsoft.com/office/powerpoint/2010/main" val="11697771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C7D33-350A-4592-81D9-F85859B9E7F6}"/>
              </a:ext>
            </a:extLst>
          </p:cNvPr>
          <p:cNvSpPr>
            <a:spLocks noGrp="1"/>
          </p:cNvSpPr>
          <p:nvPr>
            <p:ph type="title"/>
          </p:nvPr>
        </p:nvSpPr>
        <p:spPr>
          <a:xfrm>
            <a:off x="1465142" y="1264513"/>
            <a:ext cx="10058400" cy="497139"/>
          </a:xfrm>
        </p:spPr>
        <p:txBody>
          <a:bodyPr>
            <a:normAutofit/>
          </a:bodyPr>
          <a:lstStyle/>
          <a:p>
            <a:r>
              <a:rPr lang="en-US" sz="2400" dirty="0">
                <a:latin typeface="Times New Roman" panose="02020603050405020304" pitchFamily="18" charset="0"/>
                <a:cs typeface="Times New Roman" panose="02020603050405020304" pitchFamily="18" charset="0"/>
              </a:rPr>
              <a:t>INSIGHT ON </a:t>
            </a:r>
            <a:r>
              <a:rPr lang="en-GB" sz="2400" dirty="0">
                <a:latin typeface="Times New Roman" panose="02020603050405020304" pitchFamily="18" charset="0"/>
                <a:cs typeface="Times New Roman" panose="02020603050405020304" pitchFamily="18" charset="0"/>
              </a:rPr>
              <a:t>GAMING HOURS VS SLEEP HOURS AND STRESS LEVEL</a:t>
            </a:r>
            <a:endParaRPr lang="en-US"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DBFA054-D324-42C2-B68D-F6123BB51B0E}"/>
              </a:ext>
            </a:extLst>
          </p:cNvPr>
          <p:cNvSpPr>
            <a:spLocks noGrp="1"/>
          </p:cNvSpPr>
          <p:nvPr>
            <p:ph idx="1"/>
          </p:nvPr>
        </p:nvSpPr>
        <p:spPr/>
        <p:txBody>
          <a:bodyPr>
            <a:normAutofit fontScale="92500" lnSpcReduction="10000"/>
          </a:bodyPr>
          <a:lstStyle/>
          <a:p>
            <a:r>
              <a:rPr lang="en-GB" sz="2800" dirty="0">
                <a:latin typeface="Times New Roman" panose="02020603050405020304" pitchFamily="18" charset="0"/>
                <a:cs typeface="Times New Roman" panose="02020603050405020304" pitchFamily="18" charset="0"/>
              </a:rPr>
              <a:t>0.01 (Gaming vs. Sleep): This value is virtually zero. It suggests that there is no consistent linear pattern between the number of hours spent gaming and sleep levels. An increase in gaming hours does not reliably predict an increase or decrease in sleep in this dataset.</a:t>
            </a:r>
          </a:p>
          <a:p>
            <a:r>
              <a:rPr lang="en-GB" sz="2800" dirty="0">
                <a:latin typeface="Times New Roman" panose="02020603050405020304" pitchFamily="18" charset="0"/>
                <a:cs typeface="Times New Roman" panose="02020603050405020304" pitchFamily="18" charset="0"/>
              </a:rPr>
              <a:t>0.03 (Gaming vs. Stress): While technically positive, a 0.03 correlation is considered "extremely weak". It indicates that for this specific sample, gaming hours have almost no impact on stress levels.</a:t>
            </a:r>
          </a:p>
          <a:p>
            <a:r>
              <a:rPr lang="en-GB" sz="2800" dirty="0">
                <a:latin typeface="Times New Roman" panose="02020603050405020304" pitchFamily="18" charset="0"/>
                <a:cs typeface="Times New Roman" panose="02020603050405020304" pitchFamily="18" charset="0"/>
              </a:rPr>
              <a:t>While gaming does not show a strong statistical relationship with sleep or stress, its indirect effects such as reduced focus, fatigue, and time mismanagement can still negatively influence academic and work performance when gaming hours become excessive</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29574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82A5D-83B9-4490-A345-81F170ABF0D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GAMING HOURS BY GAME TYPE</a:t>
            </a:r>
          </a:p>
        </p:txBody>
      </p:sp>
      <p:pic>
        <p:nvPicPr>
          <p:cNvPr id="4" name="Content Placeholder 3">
            <a:extLst>
              <a:ext uri="{FF2B5EF4-FFF2-40B4-BE49-F238E27FC236}">
                <a16:creationId xmlns:a16="http://schemas.microsoft.com/office/drawing/2014/main" id="{25AF262A-6850-4A1C-80D3-A79550719BCB}"/>
              </a:ext>
            </a:extLst>
          </p:cNvPr>
          <p:cNvPicPr>
            <a:picLocks noGrp="1" noChangeAspect="1"/>
          </p:cNvPicPr>
          <p:nvPr>
            <p:ph idx="1"/>
          </p:nvPr>
        </p:nvPicPr>
        <p:blipFill>
          <a:blip r:embed="rId2"/>
          <a:stretch>
            <a:fillRect/>
          </a:stretch>
        </p:blipFill>
        <p:spPr>
          <a:xfrm>
            <a:off x="3224666" y="1846263"/>
            <a:ext cx="5802994" cy="4022725"/>
          </a:xfrm>
          <a:prstGeom prst="rect">
            <a:avLst/>
          </a:prstGeom>
        </p:spPr>
      </p:pic>
      <p:sp>
        <p:nvSpPr>
          <p:cNvPr id="5" name="TextBox 4">
            <a:extLst>
              <a:ext uri="{FF2B5EF4-FFF2-40B4-BE49-F238E27FC236}">
                <a16:creationId xmlns:a16="http://schemas.microsoft.com/office/drawing/2014/main" id="{E8D2D513-67C6-4B72-9A40-AA6BF784A8BC}"/>
              </a:ext>
            </a:extLst>
          </p:cNvPr>
          <p:cNvSpPr txBox="1"/>
          <p:nvPr/>
        </p:nvSpPr>
        <p:spPr>
          <a:xfrm>
            <a:off x="140885" y="5072305"/>
            <a:ext cx="3352800" cy="1277273"/>
          </a:xfrm>
          <a:prstGeom prst="rect">
            <a:avLst/>
          </a:prstGeom>
          <a:solidFill>
            <a:schemeClr val="accent1"/>
          </a:solidFill>
        </p:spPr>
        <p:txBody>
          <a:bodyPr wrap="square" rtlCol="0">
            <a:spAutoFit/>
          </a:bodyPr>
          <a:lstStyle/>
          <a:p>
            <a:r>
              <a:rPr lang="en-GB" sz="1100" b="0" i="0" dirty="0">
                <a:solidFill>
                  <a:srgbClr val="1F1F1F"/>
                </a:solidFill>
                <a:effectLst/>
                <a:latin typeface="Times New Roman" panose="02020603050405020304" pitchFamily="18" charset="0"/>
                <a:cs typeface="Times New Roman" panose="02020603050405020304" pitchFamily="18" charset="0"/>
              </a:rPr>
              <a:t>The results show that gaming hours differ significantly by game type. Competitive and online games tend to encourage longer gaming sessions, while casual games are played for shorter durations. This highlights the importance of game design in influencing gaming behaviour and its potential impact on productivity and well being.</a:t>
            </a:r>
            <a:endParaRPr lang="en-US"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87558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B5736-6FC5-43C3-854D-715C78CD8452}"/>
              </a:ext>
            </a:extLst>
          </p:cNvPr>
          <p:cNvSpPr>
            <a:spLocks noGrp="1"/>
          </p:cNvSpPr>
          <p:nvPr>
            <p:ph type="title"/>
          </p:nvPr>
        </p:nvSpPr>
        <p:spPr/>
        <p:txBody>
          <a:bodyPr>
            <a:normAutofit/>
          </a:bodyPr>
          <a:lstStyle/>
          <a:p>
            <a:r>
              <a:rPr lang="en-US" sz="2400" dirty="0">
                <a:latin typeface="Times New Roman" panose="02020603050405020304" pitchFamily="18" charset="0"/>
                <a:cs typeface="Times New Roman" panose="02020603050405020304" pitchFamily="18" charset="0"/>
              </a:rPr>
              <a:t>IMPACT OF GAMING ON WORK OR ACADEMIC PERFORMANCE </a:t>
            </a:r>
          </a:p>
        </p:txBody>
      </p:sp>
      <p:pic>
        <p:nvPicPr>
          <p:cNvPr id="7" name="Content Placeholder 6">
            <a:extLst>
              <a:ext uri="{FF2B5EF4-FFF2-40B4-BE49-F238E27FC236}">
                <a16:creationId xmlns:a16="http://schemas.microsoft.com/office/drawing/2014/main" id="{5674BFEF-45F8-45C8-AC7C-D2E446F0EA3F}"/>
              </a:ext>
            </a:extLst>
          </p:cNvPr>
          <p:cNvPicPr>
            <a:picLocks noGrp="1" noChangeAspect="1"/>
          </p:cNvPicPr>
          <p:nvPr>
            <p:ph idx="1"/>
          </p:nvPr>
        </p:nvPicPr>
        <p:blipFill>
          <a:blip r:embed="rId2"/>
          <a:stretch>
            <a:fillRect/>
          </a:stretch>
        </p:blipFill>
        <p:spPr>
          <a:xfrm>
            <a:off x="3641799" y="1846263"/>
            <a:ext cx="4968728" cy="4022725"/>
          </a:xfrm>
          <a:prstGeom prst="rect">
            <a:avLst/>
          </a:prstGeom>
        </p:spPr>
      </p:pic>
      <p:sp>
        <p:nvSpPr>
          <p:cNvPr id="8" name="TextBox 7">
            <a:extLst>
              <a:ext uri="{FF2B5EF4-FFF2-40B4-BE49-F238E27FC236}">
                <a16:creationId xmlns:a16="http://schemas.microsoft.com/office/drawing/2014/main" id="{2A098091-E60F-479D-A3BF-FAF8AFD8993F}"/>
              </a:ext>
            </a:extLst>
          </p:cNvPr>
          <p:cNvSpPr txBox="1"/>
          <p:nvPr/>
        </p:nvSpPr>
        <p:spPr>
          <a:xfrm>
            <a:off x="220716" y="4939862"/>
            <a:ext cx="3626069" cy="1384995"/>
          </a:xfrm>
          <a:prstGeom prst="rect">
            <a:avLst/>
          </a:prstGeom>
          <a:solidFill>
            <a:schemeClr val="accent1"/>
          </a:solidFill>
        </p:spPr>
        <p:txBody>
          <a:bodyPr wrap="square" rtlCol="0">
            <a:spAutoFit/>
          </a:bodyPr>
          <a:lstStyle/>
          <a:p>
            <a:r>
              <a:rPr lang="en-GB" sz="1400" b="0" i="0" dirty="0">
                <a:solidFill>
                  <a:srgbClr val="1F1F1F"/>
                </a:solidFill>
                <a:effectLst/>
                <a:latin typeface="Google Sans Text"/>
              </a:rPr>
              <a:t>There is a moderate negative correlation between gaming and academics. As daily gaming hours increase, academic performance generally declines, though the scatter suggests that gaming is only one of many factors affecting a student's grades.</a:t>
            </a:r>
            <a:endParaRPr lang="en-US" sz="1400" dirty="0"/>
          </a:p>
        </p:txBody>
      </p:sp>
    </p:spTree>
    <p:extLst>
      <p:ext uri="{BB962C8B-B14F-4D97-AF65-F5344CB8AC3E}">
        <p14:creationId xmlns:p14="http://schemas.microsoft.com/office/powerpoint/2010/main" val="18220386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F7A8C-3062-41D7-BB18-4A3BE6E5CE69}"/>
              </a:ext>
            </a:extLst>
          </p:cNvPr>
          <p:cNvSpPr>
            <a:spLocks noGrp="1"/>
          </p:cNvSpPr>
          <p:nvPr>
            <p:ph type="title"/>
          </p:nvPr>
        </p:nvSpPr>
        <p:spPr/>
        <p:txBody>
          <a:bodyPr>
            <a:normAutofit/>
          </a:bodyPr>
          <a:lstStyle/>
          <a:p>
            <a:r>
              <a:rPr lang="en-GB" sz="3200" dirty="0">
                <a:latin typeface="Times New Roman" panose="02020603050405020304" pitchFamily="18" charset="0"/>
                <a:cs typeface="Times New Roman" panose="02020603050405020304" pitchFamily="18" charset="0"/>
              </a:rPr>
              <a:t>IMPACT OF GAMING ON PERFORMANCE IMPACT</a:t>
            </a:r>
            <a:endParaRPr lang="en-US" sz="32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1C72D25F-4A1B-43E0-8CD5-EA36F82C76EC}"/>
              </a:ext>
            </a:extLst>
          </p:cNvPr>
          <p:cNvPicPr>
            <a:picLocks noGrp="1" noChangeAspect="1"/>
          </p:cNvPicPr>
          <p:nvPr>
            <p:ph idx="1"/>
          </p:nvPr>
        </p:nvPicPr>
        <p:blipFill>
          <a:blip r:embed="rId2"/>
          <a:stretch>
            <a:fillRect/>
          </a:stretch>
        </p:blipFill>
        <p:spPr>
          <a:xfrm>
            <a:off x="3224666" y="1846263"/>
            <a:ext cx="5802994" cy="4022725"/>
          </a:xfrm>
          <a:prstGeom prst="rect">
            <a:avLst/>
          </a:prstGeom>
        </p:spPr>
      </p:pic>
    </p:spTree>
    <p:extLst>
      <p:ext uri="{BB962C8B-B14F-4D97-AF65-F5344CB8AC3E}">
        <p14:creationId xmlns:p14="http://schemas.microsoft.com/office/powerpoint/2010/main" val="32013941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5A553-3F7A-4097-95EF-B0DA712C148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INSIGHT ON EFFECT OF GAMING ON PERFORMANCE IMPACT </a:t>
            </a:r>
          </a:p>
        </p:txBody>
      </p:sp>
      <p:sp>
        <p:nvSpPr>
          <p:cNvPr id="3" name="Content Placeholder 2">
            <a:extLst>
              <a:ext uri="{FF2B5EF4-FFF2-40B4-BE49-F238E27FC236}">
                <a16:creationId xmlns:a16="http://schemas.microsoft.com/office/drawing/2014/main" id="{17A2EC41-AB47-4416-B879-607AD8A0D3AF}"/>
              </a:ext>
            </a:extLst>
          </p:cNvPr>
          <p:cNvSpPr>
            <a:spLocks noGrp="1"/>
          </p:cNvSpPr>
          <p:nvPr>
            <p:ph idx="1"/>
          </p:nvPr>
        </p:nvSpPr>
        <p:spPr/>
        <p:txBody>
          <a:bodyPr>
            <a:normAutofit lnSpcReduction="10000"/>
          </a:bodyPr>
          <a:lstStyle/>
          <a:p>
            <a:r>
              <a:rPr lang="en-GB" sz="2800" dirty="0">
                <a:latin typeface="Times New Roman" panose="02020603050405020304" pitchFamily="18" charset="0"/>
                <a:cs typeface="Times New Roman" panose="02020603050405020304" pitchFamily="18" charset="0"/>
              </a:rPr>
              <a:t>The box plot shows a clear relationship between gaming hours and performance impact. Individuals who experience negative performance effects spend the most time gaming, with daily hours concentrated around 5–6 hours. Those with neutral performance impact show moderate gaming time, typically around 2–4 hours per day. In contrast, individuals with positive performance outcomes spend the least amount of time gaming, mostly between 1–2 hours daily. This pattern suggests that higher gaming hours are associated with poorer performance, while limited and controlled gaming is more likely to support or maintain good academic or work performance.</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64868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FC1A-D056-4AA8-8000-2D84055EB2BE}"/>
              </a:ext>
            </a:extLst>
          </p:cNvPr>
          <p:cNvSpPr>
            <a:spLocks noGrp="1"/>
          </p:cNvSpPr>
          <p:nvPr>
            <p:ph type="title"/>
          </p:nvPr>
        </p:nvSpPr>
        <p:spPr>
          <a:xfrm>
            <a:off x="1097280" y="882869"/>
            <a:ext cx="10058400" cy="1051034"/>
          </a:xfrm>
        </p:spPr>
        <p:txBody>
          <a:bodyPr>
            <a:normAutofit fontScale="90000"/>
          </a:bodyPr>
          <a:lstStyle/>
          <a:p>
            <a:r>
              <a:rPr lang="en-GB" b="1" i="0" dirty="0">
                <a:solidFill>
                  <a:srgbClr val="1F1F1F"/>
                </a:solidFill>
                <a:effectLst/>
                <a:latin typeface="Times New Roman" panose="02020603050405020304" pitchFamily="18" charset="0"/>
                <a:cs typeface="Times New Roman" panose="02020603050405020304" pitchFamily="18" charset="0"/>
              </a:rPr>
              <a:t>KEY FINDINGS</a:t>
            </a:r>
            <a:br>
              <a:rPr lang="en-GB" b="0" i="0" dirty="0">
                <a:solidFill>
                  <a:srgbClr val="1F1F1F"/>
                </a:solidFill>
                <a:effectLst/>
                <a:latin typeface="Google Sans Text"/>
              </a:rPr>
            </a:br>
            <a:endParaRPr lang="en-US" dirty="0"/>
          </a:p>
        </p:txBody>
      </p:sp>
      <p:sp>
        <p:nvSpPr>
          <p:cNvPr id="3" name="Content Placeholder 2">
            <a:extLst>
              <a:ext uri="{FF2B5EF4-FFF2-40B4-BE49-F238E27FC236}">
                <a16:creationId xmlns:a16="http://schemas.microsoft.com/office/drawing/2014/main" id="{55FC7686-4720-4241-BD0B-05358D67CB81}"/>
              </a:ext>
            </a:extLst>
          </p:cNvPr>
          <p:cNvSpPr>
            <a:spLocks noGrp="1"/>
          </p:cNvSpPr>
          <p:nvPr>
            <p:ph idx="1"/>
          </p:nvPr>
        </p:nvSpPr>
        <p:spPr/>
        <p:txBody>
          <a:bodyPr>
            <a:normAutofit fontScale="85000" lnSpcReduction="20000"/>
          </a:bodyPr>
          <a:lstStyle/>
          <a:p>
            <a:pPr algn="l">
              <a:buFont typeface="+mj-lt"/>
              <a:buAutoNum type="arabicPeriod"/>
            </a:pPr>
            <a:r>
              <a:rPr lang="en-GB" sz="2800" b="0" i="0" dirty="0">
                <a:solidFill>
                  <a:srgbClr val="1F1F1F"/>
                </a:solidFill>
                <a:effectLst/>
                <a:latin typeface="Google Sans Text"/>
              </a:rPr>
              <a:t>Increased gaming hours are associated with reduced sleep duration and Stress levels tend to rise with excessive gaming : Results indicate that higher gaming hours are associated with reduced sleep duration and increased stress levels. Sleep deprivation caused by prolonged gaming sessions may contribute to heightened stress and reduced cognitive performance.</a:t>
            </a:r>
          </a:p>
          <a:p>
            <a:pPr algn="l">
              <a:buFont typeface="+mj-lt"/>
              <a:buAutoNum type="arabicPeriod"/>
            </a:pPr>
            <a:r>
              <a:rPr lang="en-GB" sz="2800" b="0" i="0" dirty="0">
                <a:solidFill>
                  <a:srgbClr val="1F1F1F"/>
                </a:solidFill>
                <a:effectLst/>
                <a:latin typeface="Google Sans Text"/>
              </a:rPr>
              <a:t>Productivity and academic/work performance decline after prolonged gaming: The analysis reveals a negative relationship between daily gaming hours and productivity levels. As gaming hours increase beyond a moderate threshold, productivity declines. This suggests that excessive gaming may reduce concentration and effective time allocation. </a:t>
            </a:r>
          </a:p>
          <a:p>
            <a:pPr algn="l">
              <a:buFont typeface="+mj-lt"/>
              <a:buAutoNum type="arabicPeriod"/>
            </a:pPr>
            <a:r>
              <a:rPr lang="en-GB" sz="2800" b="0" i="0" dirty="0">
                <a:solidFill>
                  <a:srgbClr val="1F1F1F"/>
                </a:solidFill>
                <a:effectLst/>
                <a:latin typeface="Google Sans Text"/>
              </a:rPr>
              <a:t>Game type influences gaming duration and its effects: Certain game types are associated with longer gaming durations, which amplifies their negative effects on sleep and productivity.</a:t>
            </a:r>
          </a:p>
          <a:p>
            <a:endParaRPr lang="en-US" dirty="0"/>
          </a:p>
        </p:txBody>
      </p:sp>
    </p:spTree>
    <p:extLst>
      <p:ext uri="{BB962C8B-B14F-4D97-AF65-F5344CB8AC3E}">
        <p14:creationId xmlns:p14="http://schemas.microsoft.com/office/powerpoint/2010/main" val="27039715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DA625-EE45-49F6-9F97-E0AE8E294FF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RECOMMENDATIONS</a:t>
            </a:r>
          </a:p>
        </p:txBody>
      </p:sp>
      <p:sp>
        <p:nvSpPr>
          <p:cNvPr id="3" name="Content Placeholder 2">
            <a:extLst>
              <a:ext uri="{FF2B5EF4-FFF2-40B4-BE49-F238E27FC236}">
                <a16:creationId xmlns:a16="http://schemas.microsoft.com/office/drawing/2014/main" id="{BCD0C7F9-2E59-4BD6-AAE5-133BEABDFAE5}"/>
              </a:ext>
            </a:extLst>
          </p:cNvPr>
          <p:cNvSpPr>
            <a:spLocks noGrp="1"/>
          </p:cNvSpPr>
          <p:nvPr>
            <p:ph idx="1"/>
          </p:nvPr>
        </p:nvSpPr>
        <p:spPr>
          <a:xfrm>
            <a:off x="1097280" y="1845734"/>
            <a:ext cx="10058400" cy="4618128"/>
          </a:xfrm>
        </p:spPr>
        <p:txBody>
          <a:bodyPr>
            <a:normAutofit lnSpcReduction="10000"/>
          </a:bodyPr>
          <a:lstStyle/>
          <a:p>
            <a:r>
              <a:rPr lang="en-GB" sz="1600" dirty="0">
                <a:latin typeface="Times New Roman" panose="02020603050405020304" pitchFamily="18" charset="0"/>
                <a:cs typeface="Times New Roman" panose="02020603050405020304" pitchFamily="18" charset="0"/>
              </a:rPr>
              <a:t>1. Limit daily gaming hours: While casual gaming may reduce stress, excessive gaming is associated with higher stress levels. Competitive or long gaming sessions can increase mental fatigue, frustration, and emotional strain, especially when gaming interferes with daily responsibilities. Players should adopt balanced gaming habits and take regular breaks to prevent stress accumulation and mental exhaustion</a:t>
            </a:r>
          </a:p>
          <a:p>
            <a:r>
              <a:rPr lang="en-GB" sz="1600" dirty="0">
                <a:latin typeface="Times New Roman" panose="02020603050405020304" pitchFamily="18" charset="0"/>
                <a:cs typeface="Times New Roman" panose="02020603050405020304" pitchFamily="18" charset="0"/>
              </a:rPr>
              <a:t>2. Avoid late night gaming sessions: The results indicate a negative relationship between daily gaming hours and sleep duration. Individuals who spend long hours gaming tend to sleep less, often due to late night gaming sessions. Poor sleep reduces concentration, memory retention, and overall cognitive performance. Reducing gaming time especially at night can significantly improve sleep quality, which in turn enhances academic performance and workplace efficiency.</a:t>
            </a:r>
          </a:p>
          <a:p>
            <a:r>
              <a:rPr lang="en-GB" sz="1600" dirty="0">
                <a:latin typeface="Times New Roman" panose="02020603050405020304" pitchFamily="18" charset="0"/>
                <a:cs typeface="Times New Roman" panose="02020603050405020304" pitchFamily="18" charset="0"/>
              </a:rPr>
              <a:t>3. Encourage time management strategies: The analysis shows that moderate gaming hours are not necessarily harmful and may even help reduce stress levels. Light to moderate gaming can serve as a form of relaxation after academic or work activities, helping individuals recharge mentally. However, once gaming hours exceed a reasonable threshold, the benefits diminish and negative effects begin to appear.</a:t>
            </a:r>
          </a:p>
          <a:p>
            <a:r>
              <a:rPr lang="en-GB" sz="1600" dirty="0">
                <a:latin typeface="Times New Roman" panose="02020603050405020304" pitchFamily="18" charset="0"/>
                <a:cs typeface="Times New Roman" panose="02020603050405020304" pitchFamily="18" charset="0"/>
              </a:rPr>
              <a:t>Students and workers should limit daily gaming time to a controlled number of hours to enjoy recreational benefits without harming productivity or well-being.</a:t>
            </a:r>
          </a:p>
          <a:p>
            <a:r>
              <a:rPr lang="en-GB" sz="1600" dirty="0">
                <a:latin typeface="Times New Roman" panose="02020603050405020304" pitchFamily="18" charset="0"/>
                <a:cs typeface="Times New Roman" panose="02020603050405020304" pitchFamily="18" charset="0"/>
              </a:rPr>
              <a:t>4. Promote awareness of healthy digital habits: Many negative outcomes observed in the analysis stem from poor self regulation rather than gaming itself. Awareness of gaming habits enables individuals to make informed decisions about time management. Educational institutions and workplaces should promote awareness programs on healthy digital habits to support balanced lifestyles.</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1040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1EFF1-5F06-4FD9-A9A0-8EA3EA52B1F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BBD066A7-895E-44EE-BFD5-6C2C90083AF9}"/>
              </a:ext>
            </a:extLst>
          </p:cNvPr>
          <p:cNvSpPr>
            <a:spLocks noGrp="1"/>
          </p:cNvSpPr>
          <p:nvPr>
            <p:ph idx="1"/>
          </p:nvPr>
        </p:nvSpPr>
        <p:spPr/>
        <p:txBody>
          <a:bodyPr/>
          <a:lstStyle/>
          <a:p>
            <a:pPr algn="l">
              <a:buFont typeface="+mj-lt"/>
              <a:buAutoNum type="arabicPeriod"/>
            </a:pPr>
            <a:r>
              <a:rPr lang="en-GB" sz="3600" b="0" i="0" dirty="0">
                <a:solidFill>
                  <a:srgbClr val="1F1F1F"/>
                </a:solidFill>
                <a:effectLst/>
                <a:latin typeface="Times New Roman" panose="02020603050405020304" pitchFamily="18" charset="0"/>
                <a:cs typeface="Times New Roman" panose="02020603050405020304" pitchFamily="18" charset="0"/>
              </a:rPr>
              <a:t>Moderate gaming can be beneficial.</a:t>
            </a:r>
          </a:p>
          <a:p>
            <a:pPr algn="l">
              <a:buFont typeface="+mj-lt"/>
              <a:buAutoNum type="arabicPeriod"/>
            </a:pPr>
            <a:r>
              <a:rPr lang="en-GB" sz="3600" b="0" i="0" dirty="0">
                <a:solidFill>
                  <a:srgbClr val="1F1F1F"/>
                </a:solidFill>
                <a:effectLst/>
                <a:latin typeface="Times New Roman" panose="02020603050405020304" pitchFamily="18" charset="0"/>
                <a:cs typeface="Times New Roman" panose="02020603050405020304" pitchFamily="18" charset="0"/>
              </a:rPr>
              <a:t>Excessive gaming negatively affects productivity and performance.</a:t>
            </a:r>
          </a:p>
          <a:p>
            <a:pPr algn="l">
              <a:buFont typeface="+mj-lt"/>
              <a:buAutoNum type="arabicPeriod"/>
            </a:pPr>
            <a:r>
              <a:rPr lang="en-GB" sz="3600" b="0" i="0" dirty="0">
                <a:solidFill>
                  <a:srgbClr val="1F1F1F"/>
                </a:solidFill>
                <a:effectLst/>
                <a:latin typeface="Times New Roman" panose="02020603050405020304" pitchFamily="18" charset="0"/>
                <a:cs typeface="Times New Roman" panose="02020603050405020304" pitchFamily="18" charset="0"/>
              </a:rPr>
              <a:t>Balanced gaming habits are recommended for optimal outcomes.</a:t>
            </a:r>
          </a:p>
          <a:p>
            <a:endParaRPr lang="en-US" dirty="0"/>
          </a:p>
        </p:txBody>
      </p:sp>
    </p:spTree>
    <p:extLst>
      <p:ext uri="{BB962C8B-B14F-4D97-AF65-F5344CB8AC3E}">
        <p14:creationId xmlns:p14="http://schemas.microsoft.com/office/powerpoint/2010/main" val="3677229759"/>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105</TotalTime>
  <Words>1563</Words>
  <Application>Microsoft Office PowerPoint</Application>
  <PresentationFormat>Widescreen</PresentationFormat>
  <Paragraphs>74</Paragraphs>
  <Slides>26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Calibri Light</vt:lpstr>
      <vt:lpstr>Courier New</vt:lpstr>
      <vt:lpstr>Google Sans Text</vt:lpstr>
      <vt:lpstr>Times New Roman</vt:lpstr>
      <vt:lpstr>Retrospect</vt:lpstr>
      <vt:lpstr>Analysing the Impact of Gaming Hours on Academic and Work Performance</vt:lpstr>
      <vt:lpstr>INTRODUCTION &amp; BACKGROUND </vt:lpstr>
      <vt:lpstr>PROBLEM STATEMENT</vt:lpstr>
      <vt:lpstr>OBJECTIVES OF THE STUDY </vt:lpstr>
      <vt:lpstr>DATASET DESCRIPTION</vt:lpstr>
      <vt:lpstr>DATA CLEANING AND INSPECTION</vt:lpstr>
      <vt:lpstr>ANALYSIS</vt:lpstr>
      <vt:lpstr>GENDER DISTRIBUTION</vt:lpstr>
      <vt:lpstr>AGE CLASSIFICATION AND DISTRIBUTION</vt:lpstr>
      <vt:lpstr>OCCUPATION DISTRIBUTION</vt:lpstr>
      <vt:lpstr>GAME TYPE DISTRIBUTION</vt:lpstr>
      <vt:lpstr>GAME TIME DISTRIBUTION</vt:lpstr>
      <vt:lpstr>IMPACT BY GAMING INTENSITY</vt:lpstr>
      <vt:lpstr>INSIGHT ON GAMING INTENSITY</vt:lpstr>
      <vt:lpstr>CORRELATION MATRIX OF GAMING FACTORS</vt:lpstr>
      <vt:lpstr>INSIGHT ON CORRELATION MATRIX</vt:lpstr>
      <vt:lpstr>GAMING HOURS AND PRODUCTIVITY</vt:lpstr>
      <vt:lpstr>GAMING HOURS VS SLEEP HOURS AND STRESS LEVEL</vt:lpstr>
      <vt:lpstr>INSIGHT ON GAMING HOURS VS SLEEP HOURS AND STRESS LEVEL</vt:lpstr>
      <vt:lpstr>GAMING HOURS BY GAME TYPE</vt:lpstr>
      <vt:lpstr>IMPACT OF GAMING ON WORK OR ACADEMIC PERFORMANCE </vt:lpstr>
      <vt:lpstr>IMPACT OF GAMING ON PERFORMANCE IMPACT</vt:lpstr>
      <vt:lpstr>INSIGHT ON EFFECT OF GAMING ON PERFORMANCE IMPACT </vt:lpstr>
      <vt:lpstr>KEY FINDINGS </vt:lpstr>
      <vt:lpstr>RECOMMENDATIONS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Analyzing the Impact of Gaming Hours on Academic and Work Performance</dc:title>
  <dc:creator>RAPHAEL FLOKU AYERTEY</dc:creator>
  <cp:lastModifiedBy>RAPHAEL FLOKU AYERTEY</cp:lastModifiedBy>
  <cp:revision>11</cp:revision>
  <dcterms:created xsi:type="dcterms:W3CDTF">2025-12-24T16:59:25Z</dcterms:created>
  <dcterms:modified xsi:type="dcterms:W3CDTF">2025-12-24T18:44:44Z</dcterms:modified>
</cp:coreProperties>
</file>